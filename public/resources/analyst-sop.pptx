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7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73952"/>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6788A"/>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73952"/>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6788A"/>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447"/>
        </a:solidFill>
      </p:bgPr>
    </p:bg>
    <p:spTree>
      <p:nvGrpSpPr>
        <p:cNvPr id="1" name=""/>
        <p:cNvGrpSpPr/>
        <p:nvPr/>
      </p:nvGrpSpPr>
      <p:grpSpPr>
        <a:xfrm>
          <a:off x="0" y="0"/>
          <a:ext cx="0" cy="0"/>
          <a:chOff x="0" y="0"/>
          <a:chExt cx="0" cy="0"/>
        </a:xfrm>
      </p:grpSpPr>
      <p:sp>
        <p:nvSpPr>
          <p:cNvPr id="2" name="Shape 0"/>
          <p:cNvSpPr/>
          <p:nvPr/>
        </p:nvSpPr>
        <p:spPr>
          <a:xfrm>
            <a:off x="7726680" y="0"/>
            <a:ext cx="4465015" cy="6858000"/>
          </a:xfrm>
          <a:prstGeom prst="rect">
            <a:avLst/>
          </a:prstGeom>
          <a:solidFill>
            <a:srgbClr val="EDF4F6"/>
          </a:solidFill>
          <a:ln w="12700">
            <a:solidFill>
              <a:srgbClr val="EDF4F6"/>
            </a:solidFill>
            <a:prstDash val="solid"/>
          </a:ln>
        </p:spPr>
      </p:sp>
      <p:pic>
        <p:nvPicPr>
          <p:cNvPr id="3" name="Image 0" descr="/mnt/data/imbokodo_logo_crop.png">    </p:cNvPr>
          <p:cNvPicPr>
            <a:picLocks noChangeAspect="1"/>
          </p:cNvPicPr>
          <p:nvPr/>
        </p:nvPicPr>
        <p:blipFill>
          <a:blip r:embed="rId1"/>
          <a:stretch>
            <a:fillRect/>
          </a:stretch>
        </p:blipFill>
        <p:spPr>
          <a:xfrm>
            <a:off x="822960" y="786384"/>
            <a:ext cx="868680" cy="868680"/>
          </a:xfrm>
          <a:prstGeom prst="rect">
            <a:avLst/>
          </a:prstGeom>
        </p:spPr>
      </p:pic>
      <p:sp>
        <p:nvSpPr>
          <p:cNvPr id="4" name="Text 1"/>
          <p:cNvSpPr/>
          <p:nvPr/>
        </p:nvSpPr>
        <p:spPr>
          <a:xfrm>
            <a:off x="1874520" y="896112"/>
            <a:ext cx="3017520" cy="347472"/>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Imbokodo Bank</a:t>
            </a:r>
            <a:endParaRPr lang="en-US" sz="2500" dirty="0"/>
          </a:p>
        </p:txBody>
      </p:sp>
      <p:sp>
        <p:nvSpPr>
          <p:cNvPr id="5" name="Text 2"/>
          <p:cNvSpPr/>
          <p:nvPr/>
        </p:nvSpPr>
        <p:spPr>
          <a:xfrm>
            <a:off x="1874520" y="1307592"/>
            <a:ext cx="3840480" cy="256032"/>
          </a:xfrm>
          <a:prstGeom prst="rect">
            <a:avLst/>
          </a:prstGeom>
          <a:noFill/>
          <a:ln/>
        </p:spPr>
        <p:txBody>
          <a:bodyPr wrap="square" lIns="0" tIns="0" rIns="0" bIns="0" rtlCol="0" anchor="ctr"/>
          <a:lstStyle/>
          <a:p>
            <a:pPr indent="0" marL="0">
              <a:buNone/>
            </a:pPr>
            <a:r>
              <a:rPr lang="en-US" sz="1250" dirty="0">
                <a:solidFill>
                  <a:srgbClr val="C8D9E1"/>
                </a:solidFill>
                <a:latin typeface="Arial" pitchFamily="34" charset="0"/>
                <a:ea typeface="Arial" pitchFamily="34" charset="-122"/>
                <a:cs typeface="Arial" pitchFamily="34" charset="-120"/>
              </a:rPr>
              <a:t>Risk &amp; Compliance Workbench</a:t>
            </a:r>
            <a:endParaRPr lang="en-US" sz="1250" dirty="0"/>
          </a:p>
        </p:txBody>
      </p:sp>
      <p:sp>
        <p:nvSpPr>
          <p:cNvPr id="6" name="Text 3"/>
          <p:cNvSpPr/>
          <p:nvPr/>
        </p:nvSpPr>
        <p:spPr>
          <a:xfrm>
            <a:off x="841248" y="2240280"/>
            <a:ext cx="6172200" cy="1234440"/>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Analyst Standard</a:t>
            </a:r>
            <a:endParaRPr lang="en-US" sz="3300" dirty="0"/>
          </a:p>
          <a:p>
            <a:pPr indent="0" marL="0">
              <a:buNone/>
            </a:pPr>
            <a:r>
              <a:rPr lang="en-US" sz="3300" b="1" dirty="0">
                <a:solidFill>
                  <a:srgbClr val="FFFFFF"/>
                </a:solidFill>
                <a:latin typeface="Arial" pitchFamily="34" charset="0"/>
                <a:ea typeface="Arial" pitchFamily="34" charset="-122"/>
                <a:cs typeface="Arial" pitchFamily="34" charset="-120"/>
              </a:rPr>
              <a:t>Operating Procedure</a:t>
            </a:r>
            <a:endParaRPr lang="en-US" sz="3300" dirty="0"/>
          </a:p>
        </p:txBody>
      </p:sp>
      <p:sp>
        <p:nvSpPr>
          <p:cNvPr id="7" name="Shape 4"/>
          <p:cNvSpPr/>
          <p:nvPr/>
        </p:nvSpPr>
        <p:spPr>
          <a:xfrm>
            <a:off x="850392" y="3730752"/>
            <a:ext cx="914400" cy="0"/>
          </a:xfrm>
          <a:prstGeom prst="line">
            <a:avLst/>
          </a:prstGeom>
          <a:noFill/>
          <a:ln w="50800">
            <a:solidFill>
              <a:srgbClr val="C79C52"/>
            </a:solidFill>
            <a:prstDash val="solid"/>
          </a:ln>
        </p:spPr>
      </p:sp>
      <p:sp>
        <p:nvSpPr>
          <p:cNvPr id="8" name="Text 5"/>
          <p:cNvSpPr/>
          <p:nvPr/>
        </p:nvSpPr>
        <p:spPr>
          <a:xfrm>
            <a:off x="868680" y="3977640"/>
            <a:ext cx="3840480" cy="274320"/>
          </a:xfrm>
          <a:prstGeom prst="rect">
            <a:avLst/>
          </a:prstGeom>
          <a:noFill/>
          <a:ln/>
        </p:spPr>
        <p:txBody>
          <a:bodyPr wrap="square" lIns="0" tIns="0" rIns="0" bIns="0" rtlCol="0" anchor="ctr"/>
          <a:lstStyle/>
          <a:p>
            <a:pPr indent="0" marL="0">
              <a:buNone/>
            </a:pPr>
            <a:r>
              <a:rPr lang="en-US" sz="1500" dirty="0">
                <a:solidFill>
                  <a:srgbClr val="D9E4E9"/>
                </a:solidFill>
                <a:latin typeface="Arial" pitchFamily="34" charset="0"/>
                <a:ea typeface="Arial" pitchFamily="34" charset="-122"/>
                <a:cs typeface="Arial" pitchFamily="34" charset="-120"/>
              </a:rPr>
              <a:t>Project demonstration guide</a:t>
            </a:r>
            <a:endParaRPr lang="en-US" sz="1500" dirty="0"/>
          </a:p>
        </p:txBody>
      </p:sp>
      <p:sp>
        <p:nvSpPr>
          <p:cNvPr id="9" name="Text 6"/>
          <p:cNvSpPr/>
          <p:nvPr/>
        </p:nvSpPr>
        <p:spPr>
          <a:xfrm>
            <a:off x="868680" y="4389120"/>
            <a:ext cx="448056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Focus: Risk / Compliance Analyst</a:t>
            </a:r>
            <a:endParaRPr lang="en-US" sz="1600" dirty="0"/>
          </a:p>
        </p:txBody>
      </p:sp>
      <p:sp>
        <p:nvSpPr>
          <p:cNvPr id="10" name="Text 7"/>
          <p:cNvSpPr/>
          <p:nvPr/>
        </p:nvSpPr>
        <p:spPr>
          <a:xfrm>
            <a:off x="868680" y="5870448"/>
            <a:ext cx="5852160" cy="292608"/>
          </a:xfrm>
          <a:prstGeom prst="rect">
            <a:avLst/>
          </a:prstGeom>
          <a:noFill/>
          <a:ln/>
        </p:spPr>
        <p:txBody>
          <a:bodyPr wrap="square" lIns="0" tIns="0" rIns="0" bIns="0" rtlCol="0" anchor="ctr"/>
          <a:lstStyle/>
          <a:p>
            <a:pPr indent="0" marL="0">
              <a:buNone/>
            </a:pPr>
            <a:r>
              <a:rPr lang="en-US" sz="1400" b="1" dirty="0">
                <a:solidFill>
                  <a:srgbClr val="DDEBE7"/>
                </a:solidFill>
                <a:latin typeface="Arial" pitchFamily="34" charset="0"/>
                <a:ea typeface="Arial" pitchFamily="34" charset="-122"/>
                <a:cs typeface="Arial" pitchFamily="34" charset="-120"/>
              </a:rPr>
              <a:t>Know what happened. Act on what matters.</a:t>
            </a:r>
            <a:endParaRPr lang="en-US" sz="1400" dirty="0"/>
          </a:p>
        </p:txBody>
      </p:sp>
      <p:sp>
        <p:nvSpPr>
          <p:cNvPr id="11" name="Text 8"/>
          <p:cNvSpPr/>
          <p:nvPr/>
        </p:nvSpPr>
        <p:spPr>
          <a:xfrm>
            <a:off x="8275320" y="1005840"/>
            <a:ext cx="2560320" cy="274320"/>
          </a:xfrm>
          <a:prstGeom prst="rect">
            <a:avLst/>
          </a:prstGeom>
          <a:noFill/>
          <a:ln/>
        </p:spPr>
        <p:txBody>
          <a:bodyPr wrap="square" lIns="0" tIns="0" rIns="0" bIns="0" rtlCol="0" anchor="ctr"/>
          <a:lstStyle/>
          <a:p>
            <a:pPr indent="0" marL="0">
              <a:buNone/>
            </a:pPr>
            <a:r>
              <a:rPr lang="en-US" sz="1800" b="1" dirty="0">
                <a:solidFill>
                  <a:srgbClr val="153447"/>
                </a:solidFill>
                <a:latin typeface="Arial" pitchFamily="34" charset="0"/>
                <a:ea typeface="Arial" pitchFamily="34" charset="-122"/>
                <a:cs typeface="Arial" pitchFamily="34" charset="-120"/>
              </a:rPr>
              <a:t>Purpose</a:t>
            </a:r>
            <a:endParaRPr lang="en-US" sz="1800" dirty="0"/>
          </a:p>
        </p:txBody>
      </p:sp>
      <p:sp>
        <p:nvSpPr>
          <p:cNvPr id="12" name="Text 9"/>
          <p:cNvSpPr/>
          <p:nvPr/>
        </p:nvSpPr>
        <p:spPr>
          <a:xfrm>
            <a:off x="8275320" y="1444752"/>
            <a:ext cx="3154680" cy="1234440"/>
          </a:xfrm>
          <a:prstGeom prst="rect">
            <a:avLst/>
          </a:prstGeom>
          <a:noFill/>
          <a:ln/>
        </p:spPr>
        <p:txBody>
          <a:bodyPr wrap="square" lIns="0" tIns="0" rIns="0" bIns="0" rtlCol="0" anchor="ctr"/>
          <a:lstStyle/>
          <a:p>
            <a:pPr indent="0" marL="0">
              <a:buNone/>
            </a:pPr>
            <a:r>
              <a:rPr lang="en-US" sz="1400" dirty="0">
                <a:solidFill>
                  <a:srgbClr val="334E62"/>
                </a:solidFill>
                <a:latin typeface="Arial" pitchFamily="34" charset="0"/>
                <a:ea typeface="Arial" pitchFamily="34" charset="-122"/>
                <a:cs typeface="Arial" pitchFamily="34" charset="-120"/>
              </a:rPr>
              <a:t>A practical walkthrough of the Analyst workflow: triage, investigation, evidence, data-quality recovery, analysis and reporting.</a:t>
            </a:r>
            <a:endParaRPr lang="en-US" sz="1400" dirty="0"/>
          </a:p>
        </p:txBody>
      </p:sp>
      <p:sp>
        <p:nvSpPr>
          <p:cNvPr id="13" name="Shape 10"/>
          <p:cNvSpPr/>
          <p:nvPr/>
        </p:nvSpPr>
        <p:spPr>
          <a:xfrm>
            <a:off x="8275320" y="3063240"/>
            <a:ext cx="1417320" cy="292608"/>
          </a:xfrm>
          <a:prstGeom prst="roundRect">
            <a:avLst>
              <a:gd name="adj" fmla="val 18750"/>
            </a:avLst>
          </a:prstGeom>
          <a:solidFill>
            <a:srgbClr val="E8F4F0"/>
          </a:solidFill>
          <a:ln w="12700">
            <a:solidFill>
              <a:srgbClr val="E8F4F0"/>
            </a:solidFill>
            <a:prstDash val="solid"/>
          </a:ln>
        </p:spPr>
      </p:sp>
      <p:sp>
        <p:nvSpPr>
          <p:cNvPr id="14" name="Text 11"/>
          <p:cNvSpPr/>
          <p:nvPr/>
        </p:nvSpPr>
        <p:spPr>
          <a:xfrm>
            <a:off x="8348472" y="3127248"/>
            <a:ext cx="1271016" cy="128016"/>
          </a:xfrm>
          <a:prstGeom prst="rect">
            <a:avLst/>
          </a:prstGeom>
          <a:noFill/>
          <a:ln/>
        </p:spPr>
        <p:txBody>
          <a:bodyPr wrap="square" lIns="0" tIns="0" rIns="0" bIns="0" rtlCol="0" anchor="ctr"/>
          <a:lstStyle/>
          <a:p>
            <a:pPr algn="ctr" indent="0" marL="0">
              <a:buNone/>
            </a:pPr>
            <a:r>
              <a:rPr lang="en-US" sz="880" b="1" dirty="0">
                <a:solidFill>
                  <a:srgbClr val="1F6C5E"/>
                </a:solidFill>
                <a:latin typeface="Arial" pitchFamily="34" charset="0"/>
                <a:ea typeface="Arial" pitchFamily="34" charset="-122"/>
                <a:cs typeface="Arial" pitchFamily="34" charset="-120"/>
              </a:rPr>
              <a:t>ANALYST ONLY</a:t>
            </a:r>
            <a:endParaRPr lang="en-US" sz="880" dirty="0"/>
          </a:p>
        </p:txBody>
      </p:sp>
      <p:sp>
        <p:nvSpPr>
          <p:cNvPr id="15" name="Shape 12"/>
          <p:cNvSpPr/>
          <p:nvPr/>
        </p:nvSpPr>
        <p:spPr>
          <a:xfrm>
            <a:off x="9857232" y="3063240"/>
            <a:ext cx="1600200" cy="292608"/>
          </a:xfrm>
          <a:prstGeom prst="roundRect">
            <a:avLst>
              <a:gd name="adj" fmla="val 18750"/>
            </a:avLst>
          </a:prstGeom>
          <a:solidFill>
            <a:srgbClr val="EAF0F4"/>
          </a:solidFill>
          <a:ln w="12700">
            <a:solidFill>
              <a:srgbClr val="EAF0F4"/>
            </a:solidFill>
            <a:prstDash val="solid"/>
          </a:ln>
        </p:spPr>
      </p:sp>
      <p:sp>
        <p:nvSpPr>
          <p:cNvPr id="16" name="Text 13"/>
          <p:cNvSpPr/>
          <p:nvPr/>
        </p:nvSpPr>
        <p:spPr>
          <a:xfrm>
            <a:off x="9930384" y="3127248"/>
            <a:ext cx="1453896" cy="128016"/>
          </a:xfrm>
          <a:prstGeom prst="rect">
            <a:avLst/>
          </a:prstGeom>
          <a:noFill/>
          <a:ln/>
        </p:spPr>
        <p:txBody>
          <a:bodyPr wrap="square" lIns="0" tIns="0" rIns="0" bIns="0" rtlCol="0" anchor="ctr"/>
          <a:lstStyle/>
          <a:p>
            <a:pPr algn="ctr" indent="0" marL="0">
              <a:buNone/>
            </a:pPr>
            <a:r>
              <a:rPr lang="en-US" sz="880" b="1" dirty="0">
                <a:solidFill>
                  <a:srgbClr val="214A5E"/>
                </a:solidFill>
                <a:latin typeface="Arial" pitchFamily="34" charset="0"/>
                <a:ea typeface="Arial" pitchFamily="34" charset="-122"/>
                <a:cs typeface="Arial" pitchFamily="34" charset="-120"/>
              </a:rPr>
              <a:t>LOCAL VERIFICATION</a:t>
            </a:r>
            <a:endParaRPr lang="en-US" sz="880" dirty="0"/>
          </a:p>
        </p:txBody>
      </p:sp>
      <p:sp>
        <p:nvSpPr>
          <p:cNvPr id="17" name="Text 14"/>
          <p:cNvSpPr/>
          <p:nvPr/>
        </p:nvSpPr>
        <p:spPr>
          <a:xfrm>
            <a:off x="8275320" y="3703320"/>
            <a:ext cx="3154680" cy="1234440"/>
          </a:xfrm>
          <a:prstGeom prst="rect">
            <a:avLst/>
          </a:prstGeom>
          <a:noFill/>
          <a:ln/>
        </p:spPr>
        <p:txBody>
          <a:bodyPr wrap="square" lIns="0" tIns="0" rIns="0" bIns="0" rtlCol="0" anchor="ctr"/>
          <a:lstStyle/>
          <a:p>
            <a:pPr indent="0" marL="0">
              <a:buNone/>
            </a:pPr>
            <a:r>
              <a:rPr lang="en-US" sz="1150" dirty="0">
                <a:solidFill>
                  <a:srgbClr val="6F8293"/>
                </a:solidFill>
                <a:latin typeface="Arial" pitchFamily="34" charset="0"/>
                <a:ea typeface="Arial" pitchFamily="34" charset="-122"/>
                <a:cs typeface="Arial" pitchFamily="34" charset="-120"/>
              </a:rPr>
              <a:t>This SOP documents the implemented local workflow. Cloud authentication and final AWS end-to-end validation remain separate deployment gates.</a:t>
            </a:r>
            <a:endParaRPr lang="en-US" sz="1150" dirty="0"/>
          </a:p>
        </p:txBody>
      </p:sp>
      <p:sp>
        <p:nvSpPr>
          <p:cNvPr id="18" name="Text 15"/>
          <p:cNvSpPr/>
          <p:nvPr/>
        </p:nvSpPr>
        <p:spPr>
          <a:xfrm>
            <a:off x="8275320" y="6035040"/>
            <a:ext cx="3154680" cy="201168"/>
          </a:xfrm>
          <a:prstGeom prst="rect">
            <a:avLst/>
          </a:prstGeom>
          <a:noFill/>
          <a:ln/>
        </p:spPr>
        <p:txBody>
          <a:bodyPr wrap="square" lIns="0" tIns="0" rIns="0" bIns="0" rtlCol="0" anchor="ctr"/>
          <a:lstStyle/>
          <a:p>
            <a:pPr indent="0" marL="0">
              <a:buNone/>
            </a:pPr>
            <a:r>
              <a:rPr lang="en-US" sz="950" dirty="0">
                <a:solidFill>
                  <a:srgbClr val="6F8293"/>
                </a:solidFill>
                <a:latin typeface="Arial" pitchFamily="34" charset="0"/>
                <a:ea typeface="Arial" pitchFamily="34" charset="-122"/>
                <a:cs typeface="Arial" pitchFamily="34" charset="-120"/>
              </a:rPr>
              <a:t>Prepared for project demonstration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How to use this SOP</a:t>
            </a:r>
            <a:endParaRPr lang="en-US" sz="2100" dirty="0"/>
          </a:p>
        </p:txBody>
      </p:sp>
      <p:sp>
        <p:nvSpPr>
          <p:cNvPr id="9" name="Shape 6"/>
          <p:cNvSpPr/>
          <p:nvPr/>
        </p:nvSpPr>
        <p:spPr>
          <a:xfrm>
            <a:off x="658368" y="1234440"/>
            <a:ext cx="5349240" cy="4343400"/>
          </a:xfrm>
          <a:prstGeom prst="roundRect">
            <a:avLst>
              <a:gd name="adj" fmla="val 1263"/>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658368" y="1234440"/>
            <a:ext cx="54864" cy="4343400"/>
          </a:xfrm>
          <a:prstGeom prst="rect">
            <a:avLst/>
          </a:prstGeom>
          <a:solidFill>
            <a:srgbClr val="2B8F7D"/>
          </a:solidFill>
          <a:ln w="12700">
            <a:solidFill>
              <a:srgbClr val="2B8F7D"/>
            </a:solidFill>
            <a:prstDash val="solid"/>
          </a:ln>
        </p:spPr>
      </p:sp>
      <p:sp>
        <p:nvSpPr>
          <p:cNvPr id="11" name="Text 8"/>
          <p:cNvSpPr/>
          <p:nvPr/>
        </p:nvSpPr>
        <p:spPr>
          <a:xfrm>
            <a:off x="868680" y="1399032"/>
            <a:ext cx="494690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Scope</a:t>
            </a:r>
            <a:endParaRPr lang="en-US" sz="1500" dirty="0"/>
          </a:p>
        </p:txBody>
      </p:sp>
      <p:sp>
        <p:nvSpPr>
          <p:cNvPr id="12" name="Text 9"/>
          <p:cNvSpPr/>
          <p:nvPr/>
        </p:nvSpPr>
        <p:spPr>
          <a:xfrm>
            <a:off x="886968" y="1801368"/>
            <a:ext cx="4910328" cy="32918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This document demonstrates the Analyst role only.</a:t>
            </a:r>
            <a:endParaRPr lang="en-US" sz="1170" dirty="0"/>
          </a:p>
          <a:p>
            <a:r>
              <a:rPr lang="en-US" sz="1170" dirty="0">
                <a:solidFill>
                  <a:srgbClr val="334E62"/>
                </a:solidFill>
                <a:latin typeface="Arial" pitchFamily="34" charset="0"/>
                <a:ea typeface="Arial" pitchFamily="34" charset="-122"/>
                <a:cs typeface="Arial" pitchFamily="34" charset="-120"/>
              </a:rPr>
              <a:t>Use the screenshots as the reference path during the presentation.</a:t>
            </a:r>
            <a:endParaRPr lang="en-US" sz="1170" dirty="0"/>
          </a:p>
          <a:p>
            <a:r>
              <a:rPr lang="en-US" sz="1170" dirty="0">
                <a:solidFill>
                  <a:srgbClr val="334E62"/>
                </a:solidFill>
                <a:latin typeface="Arial" pitchFamily="34" charset="0"/>
                <a:ea typeface="Arial" pitchFamily="34" charset="-122"/>
                <a:cs typeface="Arial" pitchFamily="34" charset="-120"/>
              </a:rPr>
              <a:t>Follow the workflow from triage to evidence, action and reporting.</a:t>
            </a:r>
            <a:endParaRPr lang="en-US" sz="1170" dirty="0"/>
          </a:p>
          <a:p>
            <a:r>
              <a:rPr lang="en-US" sz="1170" dirty="0">
                <a:solidFill>
                  <a:srgbClr val="334E62"/>
                </a:solidFill>
                <a:latin typeface="Arial" pitchFamily="34" charset="0"/>
                <a:ea typeface="Arial" pitchFamily="34" charset="-122"/>
                <a:cs typeface="Arial" pitchFamily="34" charset="-120"/>
              </a:rPr>
              <a:t>Do not demonstrate Administrator, Auditor or Maintainer functions unless specifically asked.</a:t>
            </a:r>
            <a:endParaRPr lang="en-US" sz="1170" dirty="0"/>
          </a:p>
        </p:txBody>
      </p:sp>
      <p:sp>
        <p:nvSpPr>
          <p:cNvPr id="13" name="Shape 10"/>
          <p:cNvSpPr/>
          <p:nvPr/>
        </p:nvSpPr>
        <p:spPr>
          <a:xfrm>
            <a:off x="859536" y="5074920"/>
            <a:ext cx="494690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978408" y="5157216"/>
            <a:ext cx="470916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Keep the live demo focused on one complete business journey.</a:t>
            </a:r>
            <a:endParaRPr lang="en-US" sz="950" dirty="0"/>
          </a:p>
        </p:txBody>
      </p:sp>
      <p:sp>
        <p:nvSpPr>
          <p:cNvPr id="15" name="Shape 12"/>
          <p:cNvSpPr/>
          <p:nvPr/>
        </p:nvSpPr>
        <p:spPr>
          <a:xfrm>
            <a:off x="6199632" y="1234440"/>
            <a:ext cx="5349240" cy="4343400"/>
          </a:xfrm>
          <a:prstGeom prst="roundRect">
            <a:avLst>
              <a:gd name="adj" fmla="val 1263"/>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6" name="Shape 13"/>
          <p:cNvSpPr/>
          <p:nvPr/>
        </p:nvSpPr>
        <p:spPr>
          <a:xfrm>
            <a:off x="6199632" y="1234440"/>
            <a:ext cx="54864" cy="4343400"/>
          </a:xfrm>
          <a:prstGeom prst="rect">
            <a:avLst/>
          </a:prstGeom>
          <a:solidFill>
            <a:srgbClr val="C79C52"/>
          </a:solidFill>
          <a:ln w="12700">
            <a:solidFill>
              <a:srgbClr val="C79C52"/>
            </a:solidFill>
            <a:prstDash val="solid"/>
          </a:ln>
        </p:spPr>
      </p:sp>
      <p:sp>
        <p:nvSpPr>
          <p:cNvPr id="17" name="Text 14"/>
          <p:cNvSpPr/>
          <p:nvPr/>
        </p:nvSpPr>
        <p:spPr>
          <a:xfrm>
            <a:off x="6409944" y="1399032"/>
            <a:ext cx="494690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Analyst control principles</a:t>
            </a:r>
            <a:endParaRPr lang="en-US" sz="1500" dirty="0"/>
          </a:p>
        </p:txBody>
      </p:sp>
      <p:sp>
        <p:nvSpPr>
          <p:cNvPr id="18" name="Text 15"/>
          <p:cNvSpPr/>
          <p:nvPr/>
        </p:nvSpPr>
        <p:spPr>
          <a:xfrm>
            <a:off x="6428232" y="1801368"/>
            <a:ext cx="4910328" cy="32918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Evidence before action.</a:t>
            </a:r>
            <a:endParaRPr lang="en-US" sz="1170" dirty="0"/>
          </a:p>
          <a:p>
            <a:r>
              <a:rPr lang="en-US" sz="1170" dirty="0">
                <a:solidFill>
                  <a:srgbClr val="334E62"/>
                </a:solidFill>
                <a:latin typeface="Arial" pitchFamily="34" charset="0"/>
                <a:ea typeface="Arial" pitchFamily="34" charset="-122"/>
                <a:cs typeface="Arial" pitchFamily="34" charset="-120"/>
              </a:rPr>
              <a:t>Recorded scores guide priority; they are not a probability of fraud.</a:t>
            </a:r>
            <a:endParaRPr lang="en-US" sz="1170" dirty="0"/>
          </a:p>
          <a:p>
            <a:r>
              <a:rPr lang="en-US" sz="1170" dirty="0">
                <a:solidFill>
                  <a:srgbClr val="334E62"/>
                </a:solidFill>
                <a:latin typeface="Arial" pitchFamily="34" charset="0"/>
                <a:ea typeface="Arial" pitchFamily="34" charset="-122"/>
                <a:cs typeface="Arial" pitchFamily="34" charset="-120"/>
              </a:rPr>
              <a:t>Every investigation action should leave a trace.</a:t>
            </a:r>
            <a:endParaRPr lang="en-US" sz="1170" dirty="0"/>
          </a:p>
          <a:p>
            <a:r>
              <a:rPr lang="en-US" sz="1170" dirty="0">
                <a:solidFill>
                  <a:srgbClr val="334E62"/>
                </a:solidFill>
                <a:latin typeface="Arial" pitchFamily="34" charset="0"/>
                <a:ea typeface="Arial" pitchFamily="34" charset="-122"/>
                <a:cs typeface="Arial" pitchFamily="34" charset="-120"/>
              </a:rPr>
              <a:t>Invalid data stays outside the trusted ledger until corrected.</a:t>
            </a:r>
            <a:endParaRPr lang="en-US" sz="1170" dirty="0"/>
          </a:p>
          <a:p>
            <a:r>
              <a:rPr lang="en-US" sz="1170" dirty="0">
                <a:solidFill>
                  <a:srgbClr val="334E62"/>
                </a:solidFill>
                <a:latin typeface="Arial" pitchFamily="34" charset="0"/>
                <a:ea typeface="Arial" pitchFamily="34" charset="-122"/>
                <a:cs typeface="Arial" pitchFamily="34" charset="-120"/>
              </a:rPr>
              <a:t>Notifications point to work; the underlying record remains the source of truth.</a:t>
            </a:r>
            <a:endParaRPr lang="en-US" sz="1170" dirty="0"/>
          </a:p>
        </p:txBody>
      </p:sp>
      <p:sp>
        <p:nvSpPr>
          <p:cNvPr id="19" name="Shape 16"/>
          <p:cNvSpPr/>
          <p:nvPr/>
        </p:nvSpPr>
        <p:spPr>
          <a:xfrm>
            <a:off x="6400800" y="5074920"/>
            <a:ext cx="4946904" cy="347472"/>
          </a:xfrm>
          <a:prstGeom prst="roundRect">
            <a:avLst>
              <a:gd name="adj" fmla="val 10526"/>
            </a:avLst>
          </a:prstGeom>
          <a:solidFill>
            <a:srgbClr val="E8F4F0"/>
          </a:solidFill>
          <a:ln w="12700">
            <a:solidFill>
              <a:srgbClr val="E8F4F0"/>
            </a:solidFill>
            <a:prstDash val="solid"/>
          </a:ln>
        </p:spPr>
      </p:sp>
      <p:sp>
        <p:nvSpPr>
          <p:cNvPr id="20" name="Text 17"/>
          <p:cNvSpPr/>
          <p:nvPr/>
        </p:nvSpPr>
        <p:spPr>
          <a:xfrm>
            <a:off x="6519672" y="5157216"/>
            <a:ext cx="470916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Primary question: What happened? Why is it risky? What do I do next?</a:t>
            </a:r>
            <a:endParaRPr lang="en-US" sz="950" dirty="0"/>
          </a:p>
        </p:txBody>
      </p:sp>
      <p:sp>
        <p:nvSpPr>
          <p:cNvPr id="21" name="Shape 18"/>
          <p:cNvSpPr/>
          <p:nvPr/>
        </p:nvSpPr>
        <p:spPr>
          <a:xfrm>
            <a:off x="384048" y="6419088"/>
            <a:ext cx="11338560" cy="0"/>
          </a:xfrm>
          <a:prstGeom prst="line">
            <a:avLst/>
          </a:prstGeom>
          <a:noFill/>
          <a:ln w="10160">
            <a:solidFill>
              <a:srgbClr val="D4DEE6"/>
            </a:solidFill>
            <a:prstDash val="solid"/>
          </a:ln>
        </p:spPr>
      </p:sp>
      <p:sp>
        <p:nvSpPr>
          <p:cNvPr id="22" name="Text 19"/>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 Sign in</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Open the Imbokodo Risk &amp; Compliance Workbench.</a:t>
            </a:r>
            <a:endParaRPr lang="en-US" sz="1170" dirty="0"/>
          </a:p>
          <a:p>
            <a:r>
              <a:rPr lang="en-US" sz="1170" dirty="0">
                <a:solidFill>
                  <a:srgbClr val="334E62"/>
                </a:solidFill>
                <a:latin typeface="Arial" pitchFamily="34" charset="0"/>
                <a:ea typeface="Arial" pitchFamily="34" charset="-122"/>
                <a:cs typeface="Arial" pitchFamily="34" charset="-120"/>
              </a:rPr>
              <a:t>Enter the assigned internal access token for the Analyst account.</a:t>
            </a:r>
            <a:endParaRPr lang="en-US" sz="1170" dirty="0"/>
          </a:p>
          <a:p>
            <a:r>
              <a:rPr lang="en-US" sz="1170" dirty="0">
                <a:solidFill>
                  <a:srgbClr val="334E62"/>
                </a:solidFill>
                <a:latin typeface="Arial" pitchFamily="34" charset="0"/>
                <a:ea typeface="Arial" pitchFamily="34" charset="-122"/>
                <a:cs typeface="Arial" pitchFamily="34" charset="-120"/>
              </a:rPr>
              <a:t>Select Sign in.</a:t>
            </a:r>
            <a:endParaRPr lang="en-US" sz="1170" dirty="0"/>
          </a:p>
          <a:p>
            <a:r>
              <a:rPr lang="en-US" sz="1170" dirty="0">
                <a:solidFill>
                  <a:srgbClr val="334E62"/>
                </a:solidFill>
                <a:latin typeface="Arial" pitchFamily="34" charset="0"/>
                <a:ea typeface="Arial" pitchFamily="34" charset="-122"/>
                <a:cs typeface="Arial" pitchFamily="34" charset="-120"/>
              </a:rPr>
              <a:t>Confirm the header shows the Analyst identity and role after authentication.</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For the demo, use the Analyst identity only.</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102420).png">    </p:cNvPr>
          <p:cNvPicPr>
            <a:picLocks noChangeAspect="1"/>
          </p:cNvPicPr>
          <p:nvPr/>
        </p:nvPicPr>
        <p:blipFill>
          <a:blip r:embed="rId2"/>
          <a:stretch>
            <a:fillRect/>
          </a:stretch>
        </p:blipFill>
        <p:spPr>
          <a:xfrm>
            <a:off x="4672584" y="1952369"/>
            <a:ext cx="6949440" cy="3181862"/>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 — Imbokodo Bank Risk &amp; Compliance Workbench sign-in</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2. Start with Overview</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What to check</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Review Due Today and Overdue items first.</a:t>
            </a:r>
            <a:endParaRPr lang="en-US" sz="1170" dirty="0"/>
          </a:p>
          <a:p>
            <a:r>
              <a:rPr lang="en-US" sz="1170" dirty="0">
                <a:solidFill>
                  <a:srgbClr val="334E62"/>
                </a:solidFill>
                <a:latin typeface="Arial" pitchFamily="34" charset="0"/>
                <a:ea typeface="Arial" pitchFamily="34" charset="-122"/>
                <a:cs typeface="Arial" pitchFamily="34" charset="-120"/>
              </a:rPr>
              <a:t>Check My Open Reviews to continue work already assigned to you.</a:t>
            </a:r>
            <a:endParaRPr lang="en-US" sz="1170" dirty="0"/>
          </a:p>
          <a:p>
            <a:r>
              <a:rPr lang="en-US" sz="1170" dirty="0">
                <a:solidFill>
                  <a:srgbClr val="334E62"/>
                </a:solidFill>
                <a:latin typeface="Arial" pitchFamily="34" charset="0"/>
                <a:ea typeface="Arial" pitchFamily="34" charset="-122"/>
                <a:cs typeface="Arial" pitchFamily="34" charset="-120"/>
              </a:rPr>
              <a:t>Check Unassigned High Risk for urgent work that may need to be claimed.</a:t>
            </a:r>
            <a:endParaRPr lang="en-US" sz="1170" dirty="0"/>
          </a:p>
          <a:p>
            <a:r>
              <a:rPr lang="en-US" sz="1170" dirty="0">
                <a:solidFill>
                  <a:srgbClr val="334E62"/>
                </a:solidFill>
                <a:latin typeface="Arial" pitchFamily="34" charset="0"/>
                <a:ea typeface="Arial" pitchFamily="34" charset="-122"/>
                <a:cs typeface="Arial" pitchFamily="34" charset="-120"/>
              </a:rPr>
              <a:t>Review quarantine workload if data-quality exceptions need attention.</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Overview answers: “What needs my attention now?”</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73213).png">    </p:cNvPr>
          <p:cNvPicPr>
            <a:picLocks noChangeAspect="1"/>
          </p:cNvPicPr>
          <p:nvPr/>
        </p:nvPicPr>
        <p:blipFill>
          <a:blip r:embed="rId2"/>
          <a:stretch>
            <a:fillRect/>
          </a:stretch>
        </p:blipFill>
        <p:spPr>
          <a:xfrm>
            <a:off x="4672584" y="2039235"/>
            <a:ext cx="6949440" cy="3008130"/>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 — Analyst Overview showing workload, priority items and risk activity</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3. Work from My Work</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Use the work-view filters to narrow the queue.</a:t>
            </a:r>
            <a:endParaRPr lang="en-US" sz="1170" dirty="0"/>
          </a:p>
          <a:p>
            <a:r>
              <a:rPr lang="en-US" sz="1170" dirty="0">
                <a:solidFill>
                  <a:srgbClr val="334E62"/>
                </a:solidFill>
                <a:latin typeface="Arial" pitchFamily="34" charset="0"/>
                <a:ea typeface="Arial" pitchFamily="34" charset="-122"/>
                <a:cs typeface="Arial" pitchFamily="34" charset="-120"/>
              </a:rPr>
              <a:t>Check Owner, Due, Priority and Status before opening a case.</a:t>
            </a:r>
            <a:endParaRPr lang="en-US" sz="1170" dirty="0"/>
          </a:p>
          <a:p>
            <a:r>
              <a:rPr lang="en-US" sz="1170" dirty="0">
                <a:solidFill>
                  <a:srgbClr val="334E62"/>
                </a:solidFill>
                <a:latin typeface="Arial" pitchFamily="34" charset="0"/>
                <a:ea typeface="Arial" pitchFamily="34" charset="-122"/>
                <a:cs typeface="Arial" pitchFamily="34" charset="-120"/>
              </a:rPr>
              <a:t>Use Claim only for an eligible unassigned review.</a:t>
            </a:r>
            <a:endParaRPr lang="en-US" sz="1170" dirty="0"/>
          </a:p>
          <a:p>
            <a:r>
              <a:rPr lang="en-US" sz="1170" dirty="0">
                <a:solidFill>
                  <a:srgbClr val="334E62"/>
                </a:solidFill>
                <a:latin typeface="Arial" pitchFamily="34" charset="0"/>
                <a:ea typeface="Arial" pitchFamily="34" charset="-122"/>
                <a:cs typeface="Arial" pitchFamily="34" charset="-120"/>
              </a:rPr>
              <a:t>Use Investigate or Continue to open the case workspace.</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Treat overdue and high-priority work first.</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73900).png">    </p:cNvPr>
          <p:cNvPicPr>
            <a:picLocks noChangeAspect="1"/>
          </p:cNvPicPr>
          <p:nvPr/>
        </p:nvPicPr>
        <p:blipFill>
          <a:blip r:embed="rId2"/>
          <a:stretch>
            <a:fillRect/>
          </a:stretch>
        </p:blipFill>
        <p:spPr>
          <a:xfrm>
            <a:off x="4672584" y="2027926"/>
            <a:ext cx="6949440" cy="3030748"/>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3 — My Work queue showing ownership, risk reasons, priority and SLA status</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4. Review the transaction register</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Use filters to locate an account, risk level or review state.</a:t>
            </a:r>
            <a:endParaRPr lang="en-US" sz="1170" dirty="0"/>
          </a:p>
          <a:p>
            <a:r>
              <a:rPr lang="en-US" sz="1170" dirty="0">
                <a:solidFill>
                  <a:srgbClr val="334E62"/>
                </a:solidFill>
                <a:latin typeface="Arial" pitchFamily="34" charset="0"/>
                <a:ea typeface="Arial" pitchFamily="34" charset="-122"/>
                <a:cs typeface="Arial" pitchFamily="34" charset="-120"/>
              </a:rPr>
              <a:t>Read LOW items as ledger-visible activity that normally needs no review.</a:t>
            </a:r>
            <a:endParaRPr lang="en-US" sz="1170" dirty="0"/>
          </a:p>
          <a:p>
            <a:r>
              <a:rPr lang="en-US" sz="1170" dirty="0">
                <a:solidFill>
                  <a:srgbClr val="334E62"/>
                </a:solidFill>
                <a:latin typeface="Arial" pitchFamily="34" charset="0"/>
                <a:ea typeface="Arial" pitchFamily="34" charset="-122"/>
                <a:cs typeface="Arial" pitchFamily="34" charset="-120"/>
              </a:rPr>
              <a:t>Open HIGH or reviewable transactions using Investigate.</a:t>
            </a:r>
            <a:endParaRPr lang="en-US" sz="1170" dirty="0"/>
          </a:p>
          <a:p>
            <a:r>
              <a:rPr lang="en-US" sz="1170" dirty="0">
                <a:solidFill>
                  <a:srgbClr val="334E62"/>
                </a:solidFill>
                <a:latin typeface="Arial" pitchFamily="34" charset="0"/>
                <a:ea typeface="Arial" pitchFamily="34" charset="-122"/>
                <a:cs typeface="Arial" pitchFamily="34" charset="-120"/>
              </a:rPr>
              <a:t>Do not interpret the risk percentage as a fraud probability.</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The score is a configured risk priority score.</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75927).png">    </p:cNvPr>
          <p:cNvPicPr>
            <a:picLocks noChangeAspect="1"/>
          </p:cNvPicPr>
          <p:nvPr/>
        </p:nvPicPr>
        <p:blipFill>
          <a:blip r:embed="rId2"/>
          <a:stretch>
            <a:fillRect/>
          </a:stretch>
        </p:blipFill>
        <p:spPr>
          <a:xfrm>
            <a:off x="4672584" y="2031997"/>
            <a:ext cx="6949440" cy="3022605"/>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4 — Transactions register showing scores, review states and investigation actions</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5. Open the Risk Investigation workspace</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Confirm transaction amount, account, risk reference and current status.</a:t>
            </a:r>
            <a:endParaRPr lang="en-US" sz="1170" dirty="0"/>
          </a:p>
          <a:p>
            <a:r>
              <a:rPr lang="en-US" sz="1170" dirty="0">
                <a:solidFill>
                  <a:srgbClr val="334E62"/>
                </a:solidFill>
                <a:latin typeface="Arial" pitchFamily="34" charset="0"/>
                <a:ea typeface="Arial" pitchFamily="34" charset="-122"/>
                <a:cs typeface="Arial" pitchFamily="34" charset="-120"/>
              </a:rPr>
              <a:t>Check Owner, Due and Priority before taking action.</a:t>
            </a:r>
            <a:endParaRPr lang="en-US" sz="1170" dirty="0"/>
          </a:p>
          <a:p>
            <a:r>
              <a:rPr lang="en-US" sz="1170" dirty="0">
                <a:solidFill>
                  <a:srgbClr val="334E62"/>
                </a:solidFill>
                <a:latin typeface="Arial" pitchFamily="34" charset="0"/>
                <a:ea typeface="Arial" pitchFamily="34" charset="-122"/>
                <a:cs typeface="Arial" pitchFamily="34" charset="-120"/>
              </a:rPr>
              <a:t>Start with All evidence, then use the focused evidence tabs as needed.</a:t>
            </a:r>
            <a:endParaRPr lang="en-US" sz="1170" dirty="0"/>
          </a:p>
          <a:p>
            <a:r>
              <a:rPr lang="en-US" sz="1170" dirty="0">
                <a:solidFill>
                  <a:srgbClr val="334E62"/>
                </a:solidFill>
                <a:latin typeface="Arial" pitchFamily="34" charset="0"/>
                <a:ea typeface="Arial" pitchFamily="34" charset="-122"/>
                <a:cs typeface="Arial" pitchFamily="34" charset="-120"/>
              </a:rPr>
              <a:t>Use investigation notes to record reasoning before saving an action.</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The Analyst makes the decision; the system supplies recorded evidence.</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80551).png">    </p:cNvPr>
          <p:cNvPicPr>
            <a:picLocks noChangeAspect="1"/>
          </p:cNvPicPr>
          <p:nvPr/>
        </p:nvPicPr>
        <p:blipFill>
          <a:blip r:embed="rId2"/>
          <a:stretch>
            <a:fillRect/>
          </a:stretch>
        </p:blipFill>
        <p:spPr>
          <a:xfrm>
            <a:off x="4672584" y="2029524"/>
            <a:ext cx="6949440" cy="3027551"/>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5 — Risk Investigation workspace showing case status, owner, SLA and Analyst actions</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6. Understand why it was flagged</a:t>
            </a:r>
            <a:endParaRPr lang="en-US" sz="2100" dirty="0"/>
          </a:p>
        </p:txBody>
      </p:sp>
      <p:sp>
        <p:nvSpPr>
          <p:cNvPr id="9" name="Shape 6"/>
          <p:cNvSpPr/>
          <p:nvPr/>
        </p:nvSpPr>
        <p:spPr>
          <a:xfrm>
            <a:off x="502920"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0" name="Image 1" descr="/mnt/data/image(20261014-080619).png">    </p:cNvPr>
          <p:cNvPicPr>
            <a:picLocks noChangeAspect="1"/>
          </p:cNvPicPr>
          <p:nvPr/>
        </p:nvPicPr>
        <p:blipFill>
          <a:blip r:embed="rId2"/>
          <a:stretch>
            <a:fillRect/>
          </a:stretch>
        </p:blipFill>
        <p:spPr>
          <a:xfrm>
            <a:off x="557784" y="2149406"/>
            <a:ext cx="5422392" cy="2321444"/>
          </a:xfrm>
          <a:prstGeom prst="rect">
            <a:avLst/>
          </a:prstGeom>
        </p:spPr>
      </p:pic>
      <p:sp>
        <p:nvSpPr>
          <p:cNvPr id="11" name="Text 7"/>
          <p:cNvSpPr/>
          <p:nvPr/>
        </p:nvSpPr>
        <p:spPr>
          <a:xfrm>
            <a:off x="502920"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6 — Recorded risk evidence</a:t>
            </a:r>
            <a:endParaRPr lang="en-US" sz="850" dirty="0"/>
          </a:p>
        </p:txBody>
      </p:sp>
      <p:sp>
        <p:nvSpPr>
          <p:cNvPr id="12" name="Shape 8"/>
          <p:cNvSpPr/>
          <p:nvPr/>
        </p:nvSpPr>
        <p:spPr>
          <a:xfrm>
            <a:off x="6163056"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3" name="Image 2" descr="/mnt/data/image(20261014-080705).png">    </p:cNvPr>
          <p:cNvPicPr>
            <a:picLocks noChangeAspect="1"/>
          </p:cNvPicPr>
          <p:nvPr/>
        </p:nvPicPr>
        <p:blipFill>
          <a:blip r:embed="rId3"/>
          <a:stretch>
            <a:fillRect/>
          </a:stretch>
        </p:blipFill>
        <p:spPr>
          <a:xfrm>
            <a:off x="6217920" y="2138182"/>
            <a:ext cx="5422392" cy="2343891"/>
          </a:xfrm>
          <a:prstGeom prst="rect">
            <a:avLst/>
          </a:prstGeom>
        </p:spPr>
      </p:pic>
      <p:sp>
        <p:nvSpPr>
          <p:cNvPr id="14" name="Text 9"/>
          <p:cNvSpPr/>
          <p:nvPr/>
        </p:nvSpPr>
        <p:spPr>
          <a:xfrm>
            <a:off x="6163056"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7 — Recorded case journey</a:t>
            </a:r>
            <a:endParaRPr lang="en-US" sz="850" dirty="0"/>
          </a:p>
        </p:txBody>
      </p:sp>
      <p:sp>
        <p:nvSpPr>
          <p:cNvPr id="15" name="Text 10"/>
          <p:cNvSpPr/>
          <p:nvPr/>
        </p:nvSpPr>
        <p:spPr>
          <a:xfrm>
            <a:off x="685800" y="5824728"/>
            <a:ext cx="10835640" cy="384048"/>
          </a:xfrm>
          <a:prstGeom prst="rect">
            <a:avLst/>
          </a:prstGeom>
          <a:noFill/>
          <a:ln/>
        </p:spPr>
        <p:txBody>
          <a:bodyPr wrap="square" lIns="0" tIns="0" rIns="0" bIns="0" rtlCol="0" anchor="ctr"/>
          <a:lstStyle/>
          <a:p>
            <a:pPr algn="ctr" indent="0" marL="0">
              <a:buNone/>
            </a:pPr>
            <a:r>
              <a:rPr lang="en-US" sz="1050" dirty="0">
                <a:solidFill>
                  <a:srgbClr val="334E62"/>
                </a:solidFill>
                <a:latin typeface="Arial" pitchFamily="34" charset="0"/>
                <a:ea typeface="Arial" pitchFamily="34" charset="-122"/>
                <a:cs typeface="Arial" pitchFamily="34" charset="-120"/>
              </a:rPr>
              <a:t>Check the rule version and reasons that produced the recorded score. Then use the case journey to distinguish system events from human investigation activity. Historical assessments remain as recorded; do not reconstruct missing evidence.</a:t>
            </a:r>
            <a:endParaRPr lang="en-US" sz="1050" dirty="0"/>
          </a:p>
        </p:txBody>
      </p:sp>
      <p:sp>
        <p:nvSpPr>
          <p:cNvPr id="16" name="Shape 11"/>
          <p:cNvSpPr/>
          <p:nvPr/>
        </p:nvSpPr>
        <p:spPr>
          <a:xfrm>
            <a:off x="384048" y="6419088"/>
            <a:ext cx="11338560" cy="0"/>
          </a:xfrm>
          <a:prstGeom prst="line">
            <a:avLst/>
          </a:prstGeom>
          <a:noFill/>
          <a:ln w="10160">
            <a:solidFill>
              <a:srgbClr val="D4DEE6"/>
            </a:solidFill>
            <a:prstDash val="solid"/>
          </a:ln>
        </p:spPr>
      </p:sp>
      <p:sp>
        <p:nvSpPr>
          <p:cNvPr id="17" name="Text 12"/>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7. Check transaction provenance</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Review Source System, Processing Run and Source row.</a:t>
            </a:r>
            <a:endParaRPr lang="en-US" sz="1170" dirty="0"/>
          </a:p>
          <a:p>
            <a:r>
              <a:rPr lang="en-US" sz="1170" dirty="0">
                <a:solidFill>
                  <a:srgbClr val="334E62"/>
                </a:solidFill>
                <a:latin typeface="Arial" pitchFamily="34" charset="0"/>
                <a:ea typeface="Arial" pitchFamily="34" charset="-122"/>
                <a:cs typeface="Arial" pitchFamily="34" charset="-120"/>
              </a:rPr>
              <a:t>Use Submission Channel, Source File, Submitted By and Submitted At when recorded.</a:t>
            </a:r>
            <a:endParaRPr lang="en-US" sz="1170" dirty="0"/>
          </a:p>
          <a:p>
            <a:r>
              <a:rPr lang="en-US" sz="1170" dirty="0">
                <a:solidFill>
                  <a:srgbClr val="334E62"/>
                </a:solidFill>
                <a:latin typeface="Arial" pitchFamily="34" charset="0"/>
                <a:ea typeface="Arial" pitchFamily="34" charset="-122"/>
                <a:cs typeface="Arial" pitchFamily="34" charset="-120"/>
              </a:rPr>
              <a:t>Treat “Not recorded” as missing evidence — do not invent a value.</a:t>
            </a:r>
            <a:endParaRPr lang="en-US" sz="1170" dirty="0"/>
          </a:p>
          <a:p>
            <a:r>
              <a:rPr lang="en-US" sz="1170" dirty="0">
                <a:solidFill>
                  <a:srgbClr val="334E62"/>
                </a:solidFill>
                <a:latin typeface="Arial" pitchFamily="34" charset="0"/>
                <a:ea typeface="Arial" pitchFamily="34" charset="-122"/>
                <a:cs typeface="Arial" pitchFamily="34" charset="-120"/>
              </a:rPr>
              <a:t>Use provenance to connect the investigation back to its processing history.</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Provenance supports auditability and evidence tracing.</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80811).png">    </p:cNvPr>
          <p:cNvPicPr>
            <a:picLocks noChangeAspect="1"/>
          </p:cNvPicPr>
          <p:nvPr/>
        </p:nvPicPr>
        <p:blipFill>
          <a:blip r:embed="rId2"/>
          <a:stretch>
            <a:fillRect/>
          </a:stretch>
        </p:blipFill>
        <p:spPr>
          <a:xfrm>
            <a:off x="4672584" y="2048679"/>
            <a:ext cx="6949440" cy="2989241"/>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8 — Transaction source and processing provenance</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8. Triage Risk Events and Review Queue</a:t>
            </a:r>
            <a:endParaRPr lang="en-US" sz="2100" dirty="0"/>
          </a:p>
        </p:txBody>
      </p:sp>
      <p:sp>
        <p:nvSpPr>
          <p:cNvPr id="9" name="Shape 6"/>
          <p:cNvSpPr/>
          <p:nvPr/>
        </p:nvSpPr>
        <p:spPr>
          <a:xfrm>
            <a:off x="502920" y="1115568"/>
            <a:ext cx="5532120" cy="4370832"/>
          </a:xfrm>
          <a:prstGeom prst="roundRect">
            <a:avLst>
              <a:gd name="adj" fmla="val 1046"/>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0" name="Image 1" descr="/mnt/data/image(20261014-083258).png">    </p:cNvPr>
          <p:cNvPicPr>
            <a:picLocks noChangeAspect="1"/>
          </p:cNvPicPr>
          <p:nvPr/>
        </p:nvPicPr>
        <p:blipFill>
          <a:blip r:embed="rId2"/>
          <a:stretch>
            <a:fillRect/>
          </a:stretch>
        </p:blipFill>
        <p:spPr>
          <a:xfrm>
            <a:off x="557784" y="2125990"/>
            <a:ext cx="5422392" cy="2349989"/>
          </a:xfrm>
          <a:prstGeom prst="rect">
            <a:avLst/>
          </a:prstGeom>
        </p:spPr>
      </p:pic>
      <p:sp>
        <p:nvSpPr>
          <p:cNvPr id="11" name="Text 7"/>
          <p:cNvSpPr/>
          <p:nvPr/>
        </p:nvSpPr>
        <p:spPr>
          <a:xfrm>
            <a:off x="502920" y="5541264"/>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9 — High-risk events and next action</a:t>
            </a:r>
            <a:endParaRPr lang="en-US" sz="850" dirty="0"/>
          </a:p>
        </p:txBody>
      </p:sp>
      <p:sp>
        <p:nvSpPr>
          <p:cNvPr id="12" name="Shape 8"/>
          <p:cNvSpPr/>
          <p:nvPr/>
        </p:nvSpPr>
        <p:spPr>
          <a:xfrm>
            <a:off x="6163056" y="1115568"/>
            <a:ext cx="5532120" cy="4370832"/>
          </a:xfrm>
          <a:prstGeom prst="roundRect">
            <a:avLst>
              <a:gd name="adj" fmla="val 1046"/>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3" name="Image 2" descr="/mnt/data/image(20261014-084800).png">    </p:cNvPr>
          <p:cNvPicPr>
            <a:picLocks noChangeAspect="1"/>
          </p:cNvPicPr>
          <p:nvPr/>
        </p:nvPicPr>
        <p:blipFill>
          <a:blip r:embed="rId3"/>
          <a:stretch>
            <a:fillRect/>
          </a:stretch>
        </p:blipFill>
        <p:spPr>
          <a:xfrm>
            <a:off x="6217920" y="2120580"/>
            <a:ext cx="5422392" cy="2360808"/>
          </a:xfrm>
          <a:prstGeom prst="rect">
            <a:avLst/>
          </a:prstGeom>
        </p:spPr>
      </p:pic>
      <p:sp>
        <p:nvSpPr>
          <p:cNvPr id="14" name="Text 9"/>
          <p:cNvSpPr/>
          <p:nvPr/>
        </p:nvSpPr>
        <p:spPr>
          <a:xfrm>
            <a:off x="6163056" y="5541264"/>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10 — Review Queue with ownership and SLA</a:t>
            </a:r>
            <a:endParaRPr lang="en-US" sz="850" dirty="0"/>
          </a:p>
        </p:txBody>
      </p:sp>
      <p:sp>
        <p:nvSpPr>
          <p:cNvPr id="15" name="Text 10"/>
          <p:cNvSpPr/>
          <p:nvPr/>
        </p:nvSpPr>
        <p:spPr>
          <a:xfrm>
            <a:off x="685800" y="5806440"/>
            <a:ext cx="10835640" cy="420624"/>
          </a:xfrm>
          <a:prstGeom prst="rect">
            <a:avLst/>
          </a:prstGeom>
          <a:noFill/>
          <a:ln/>
        </p:spPr>
        <p:txBody>
          <a:bodyPr wrap="square" lIns="0" tIns="0" rIns="0" bIns="0" rtlCol="0" anchor="ctr"/>
          <a:lstStyle/>
          <a:p>
            <a:pPr algn="ctr" indent="0" marL="0">
              <a:buNone/>
            </a:pPr>
            <a:r>
              <a:rPr lang="en-US" sz="1050" dirty="0">
                <a:solidFill>
                  <a:srgbClr val="334E62"/>
                </a:solidFill>
                <a:latin typeface="Arial" pitchFamily="34" charset="0"/>
                <a:ea typeface="Arial" pitchFamily="34" charset="-122"/>
                <a:cs typeface="Arial" pitchFamily="34" charset="-120"/>
              </a:rPr>
              <a:t>Risk Events shows why a transaction was flagged and what review state exists. Review Queue adds operational ownership, priority and SLA. Claim only work you are allowed to own; continue assigned investigations from the queue.</a:t>
            </a:r>
            <a:endParaRPr lang="en-US" sz="1050" dirty="0"/>
          </a:p>
        </p:txBody>
      </p:sp>
      <p:sp>
        <p:nvSpPr>
          <p:cNvPr id="16" name="Shape 11"/>
          <p:cNvSpPr/>
          <p:nvPr/>
        </p:nvSpPr>
        <p:spPr>
          <a:xfrm>
            <a:off x="384048" y="6419088"/>
            <a:ext cx="11338560" cy="0"/>
          </a:xfrm>
          <a:prstGeom prst="line">
            <a:avLst/>
          </a:prstGeom>
          <a:noFill/>
          <a:ln w="10160">
            <a:solidFill>
              <a:srgbClr val="D4DEE6"/>
            </a:solidFill>
            <a:prstDash val="solid"/>
          </a:ln>
        </p:spPr>
      </p:sp>
      <p:sp>
        <p:nvSpPr>
          <p:cNvPr id="17" name="Text 12"/>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9. Upload transaction data</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Read the CSV requirements before selecting a file.</a:t>
            </a:r>
            <a:endParaRPr lang="en-US" sz="1170" dirty="0"/>
          </a:p>
          <a:p>
            <a:r>
              <a:rPr lang="en-US" sz="1170" dirty="0">
                <a:solidFill>
                  <a:srgbClr val="334E62"/>
                </a:solidFill>
                <a:latin typeface="Arial" pitchFamily="34" charset="0"/>
                <a:ea typeface="Arial" pitchFamily="34" charset="-122"/>
                <a:cs typeface="Arial" pitchFamily="34" charset="-120"/>
              </a:rPr>
              <a:t>Use the sample CSV when the required structure is unclear.</a:t>
            </a:r>
            <a:endParaRPr lang="en-US" sz="1170" dirty="0"/>
          </a:p>
          <a:p>
            <a:r>
              <a:rPr lang="en-US" sz="1170" dirty="0">
                <a:solidFill>
                  <a:srgbClr val="334E62"/>
                </a:solidFill>
                <a:latin typeface="Arial" pitchFamily="34" charset="0"/>
                <a:ea typeface="Arial" pitchFamily="34" charset="-122"/>
                <a:cs typeface="Arial" pitchFamily="34" charset="-120"/>
              </a:rPr>
              <a:t>Choose the transaction file.</a:t>
            </a:r>
            <a:endParaRPr lang="en-US" sz="1170" dirty="0"/>
          </a:p>
          <a:p>
            <a:r>
              <a:rPr lang="en-US" sz="1170" dirty="0">
                <a:solidFill>
                  <a:srgbClr val="334E62"/>
                </a:solidFill>
                <a:latin typeface="Arial" pitchFamily="34" charset="0"/>
                <a:ea typeface="Arial" pitchFamily="34" charset="-122"/>
                <a:cs typeface="Arial" pitchFamily="34" charset="-120"/>
              </a:rPr>
              <a:t>Select Validate and Process.</a:t>
            </a:r>
            <a:endParaRPr lang="en-US" sz="1170" dirty="0"/>
          </a:p>
          <a:p>
            <a:r>
              <a:rPr lang="en-US" sz="1170" dirty="0">
                <a:solidFill>
                  <a:srgbClr val="334E62"/>
                </a:solidFill>
                <a:latin typeface="Arial" pitchFamily="34" charset="0"/>
                <a:ea typeface="Arial" pitchFamily="34" charset="-122"/>
                <a:cs typeface="Arial" pitchFamily="34" charset="-120"/>
              </a:rPr>
              <a:t>Wait for the recorded processing outcome before navigating away.</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Invalid rows are quarantined; they do not enter the trusted ledger.</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85940).png">    </p:cNvPr>
          <p:cNvPicPr>
            <a:picLocks noChangeAspect="1"/>
          </p:cNvPicPr>
          <p:nvPr/>
        </p:nvPicPr>
        <p:blipFill>
          <a:blip r:embed="rId2"/>
          <a:stretch>
            <a:fillRect/>
          </a:stretch>
        </p:blipFill>
        <p:spPr>
          <a:xfrm>
            <a:off x="4672584" y="2029760"/>
            <a:ext cx="6949440" cy="3027079"/>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11 — Upload Transactions workspace</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10. Read the processing outcome</a:t>
            </a:r>
            <a:endParaRPr lang="en-US" sz="2100" dirty="0"/>
          </a:p>
        </p:txBody>
      </p:sp>
      <p:sp>
        <p:nvSpPr>
          <p:cNvPr id="9" name="Shape 6"/>
          <p:cNvSpPr/>
          <p:nvPr/>
        </p:nvSpPr>
        <p:spPr>
          <a:xfrm>
            <a:off x="502920"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0" name="Image 1" descr="/mnt/data/image(20261014-090422).png">    </p:cNvPr>
          <p:cNvPicPr>
            <a:picLocks noChangeAspect="1"/>
          </p:cNvPicPr>
          <p:nvPr/>
        </p:nvPicPr>
        <p:blipFill>
          <a:blip r:embed="rId2"/>
          <a:stretch>
            <a:fillRect/>
          </a:stretch>
        </p:blipFill>
        <p:spPr>
          <a:xfrm>
            <a:off x="557784" y="2129538"/>
            <a:ext cx="5422392" cy="2361179"/>
          </a:xfrm>
          <a:prstGeom prst="rect">
            <a:avLst/>
          </a:prstGeom>
        </p:spPr>
      </p:pic>
      <p:sp>
        <p:nvSpPr>
          <p:cNvPr id="11" name="Text 7"/>
          <p:cNvSpPr/>
          <p:nvPr/>
        </p:nvSpPr>
        <p:spPr>
          <a:xfrm>
            <a:off x="502920"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12 — Recorded row outcomes and exception status</a:t>
            </a:r>
            <a:endParaRPr lang="en-US" sz="850" dirty="0"/>
          </a:p>
        </p:txBody>
      </p:sp>
      <p:sp>
        <p:nvSpPr>
          <p:cNvPr id="12" name="Shape 8"/>
          <p:cNvSpPr/>
          <p:nvPr/>
        </p:nvSpPr>
        <p:spPr>
          <a:xfrm>
            <a:off x="6163056"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3" name="Image 2" descr="/mnt/data/image(20261014-090507).png">    </p:cNvPr>
          <p:cNvPicPr>
            <a:picLocks noChangeAspect="1"/>
          </p:cNvPicPr>
          <p:nvPr/>
        </p:nvPicPr>
        <p:blipFill>
          <a:blip r:embed="rId3"/>
          <a:stretch>
            <a:fillRect/>
          </a:stretch>
        </p:blipFill>
        <p:spPr>
          <a:xfrm>
            <a:off x="6217920" y="2146758"/>
            <a:ext cx="5422392" cy="2326741"/>
          </a:xfrm>
          <a:prstGeom prst="rect">
            <a:avLst/>
          </a:prstGeom>
        </p:spPr>
      </p:pic>
      <p:sp>
        <p:nvSpPr>
          <p:cNvPr id="14" name="Text 9"/>
          <p:cNvSpPr/>
          <p:nvPr/>
        </p:nvSpPr>
        <p:spPr>
          <a:xfrm>
            <a:off x="6163056"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13 — Processing actions and recent runs</a:t>
            </a:r>
            <a:endParaRPr lang="en-US" sz="850" dirty="0"/>
          </a:p>
        </p:txBody>
      </p:sp>
      <p:sp>
        <p:nvSpPr>
          <p:cNvPr id="15" name="Text 10"/>
          <p:cNvSpPr/>
          <p:nvPr/>
        </p:nvSpPr>
        <p:spPr>
          <a:xfrm>
            <a:off x="640080" y="5797296"/>
            <a:ext cx="10927080" cy="420624"/>
          </a:xfrm>
          <a:prstGeom prst="rect">
            <a:avLst/>
          </a:prstGeom>
          <a:noFill/>
          <a:ln/>
        </p:spPr>
        <p:txBody>
          <a:bodyPr wrap="square" lIns="0" tIns="0" rIns="0" bIns="0" rtlCol="0" anchor="ctr"/>
          <a:lstStyle/>
          <a:p>
            <a:pPr algn="ctr" indent="0" marL="0">
              <a:buNone/>
            </a:pPr>
            <a:r>
              <a:rPr lang="en-US" sz="1040" dirty="0">
                <a:solidFill>
                  <a:srgbClr val="334E62"/>
                </a:solidFill>
                <a:latin typeface="Arial" pitchFamily="34" charset="0"/>
                <a:ea typeface="Arial" pitchFamily="34" charset="-122"/>
                <a:cs typeface="Arial" pitchFamily="34" charset="-120"/>
              </a:rPr>
              <a:t>Reconcile the row totals before moving on. Use the enabled action that matches the outcome: review quarantined rows, inspect processing details, or open accepted/risk activity when available. A duplicate-file message means no additional transactions were created.</a:t>
            </a:r>
            <a:endParaRPr lang="en-US" sz="1040" dirty="0"/>
          </a:p>
        </p:txBody>
      </p:sp>
      <p:sp>
        <p:nvSpPr>
          <p:cNvPr id="16" name="Shape 11"/>
          <p:cNvSpPr/>
          <p:nvPr/>
        </p:nvSpPr>
        <p:spPr>
          <a:xfrm>
            <a:off x="384048" y="6419088"/>
            <a:ext cx="11338560" cy="0"/>
          </a:xfrm>
          <a:prstGeom prst="line">
            <a:avLst/>
          </a:prstGeom>
          <a:noFill/>
          <a:ln w="10160">
            <a:solidFill>
              <a:srgbClr val="D4DEE6"/>
            </a:solidFill>
            <a:prstDash val="solid"/>
          </a:ln>
        </p:spPr>
      </p:sp>
      <p:sp>
        <p:nvSpPr>
          <p:cNvPr id="17" name="Text 12"/>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11. Review quarantined rows</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Keep the Processing Run filter when following a specific upload.</a:t>
            </a:r>
            <a:endParaRPr lang="en-US" sz="1170" dirty="0"/>
          </a:p>
          <a:p>
            <a:r>
              <a:rPr lang="en-US" sz="1170" dirty="0">
                <a:solidFill>
                  <a:srgbClr val="334E62"/>
                </a:solidFill>
                <a:latin typeface="Arial" pitchFamily="34" charset="0"/>
                <a:ea typeface="Arial" pitchFamily="34" charset="-122"/>
                <a:cs typeface="Arial" pitchFamily="34" charset="-120"/>
              </a:rPr>
              <a:t>Review source file, source row and validation issue.</a:t>
            </a:r>
            <a:endParaRPr lang="en-US" sz="1170" dirty="0"/>
          </a:p>
          <a:p>
            <a:r>
              <a:rPr lang="en-US" sz="1170" dirty="0">
                <a:solidFill>
                  <a:srgbClr val="334E62"/>
                </a:solidFill>
                <a:latin typeface="Arial" pitchFamily="34" charset="0"/>
                <a:ea typeface="Arial" pitchFamily="34" charset="-122"/>
                <a:cs typeface="Arial" pitchFamily="34" charset="-120"/>
              </a:rPr>
              <a:t>Open View issue for the row that needs recovery.</a:t>
            </a:r>
            <a:endParaRPr lang="en-US" sz="1170" dirty="0"/>
          </a:p>
          <a:p>
            <a:r>
              <a:rPr lang="en-US" sz="1170" dirty="0">
                <a:solidFill>
                  <a:srgbClr val="334E62"/>
                </a:solidFill>
                <a:latin typeface="Arial" pitchFamily="34" charset="0"/>
                <a:ea typeface="Arial" pitchFamily="34" charset="-122"/>
                <a:cs typeface="Arial" pitchFamily="34" charset="-120"/>
              </a:rPr>
              <a:t>Do not manually move an invalid row into the trusted ledger.</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The quarantine queue is evidence-preserving, not a discard bin.</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91734).png">    </p:cNvPr>
          <p:cNvPicPr>
            <a:picLocks noChangeAspect="1"/>
          </p:cNvPicPr>
          <p:nvPr/>
        </p:nvPicPr>
        <p:blipFill>
          <a:blip r:embed="rId2"/>
          <a:stretch>
            <a:fillRect/>
          </a:stretch>
        </p:blipFill>
        <p:spPr>
          <a:xfrm>
            <a:off x="4672584" y="2044724"/>
            <a:ext cx="6949440" cy="2997152"/>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14 — Quarantined rows filtered to a Processing Run</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12. Recover a quarantined row</a:t>
            </a:r>
            <a:endParaRPr lang="en-US" sz="2100" dirty="0"/>
          </a:p>
        </p:txBody>
      </p:sp>
      <p:sp>
        <p:nvSpPr>
          <p:cNvPr id="9" name="Shape 6"/>
          <p:cNvSpPr/>
          <p:nvPr/>
        </p:nvSpPr>
        <p:spPr>
          <a:xfrm>
            <a:off x="502920"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0" name="Image 1" descr="/mnt/data/image(20261014-092003).png">    </p:cNvPr>
          <p:cNvPicPr>
            <a:picLocks noChangeAspect="1"/>
          </p:cNvPicPr>
          <p:nvPr/>
        </p:nvPicPr>
        <p:blipFill>
          <a:blip r:embed="rId2"/>
          <a:stretch>
            <a:fillRect/>
          </a:stretch>
        </p:blipFill>
        <p:spPr>
          <a:xfrm>
            <a:off x="557784" y="2125235"/>
            <a:ext cx="5422392" cy="2369786"/>
          </a:xfrm>
          <a:prstGeom prst="rect">
            <a:avLst/>
          </a:prstGeom>
        </p:spPr>
      </p:pic>
      <p:sp>
        <p:nvSpPr>
          <p:cNvPr id="11" name="Text 7"/>
          <p:cNvSpPr/>
          <p:nvPr/>
        </p:nvSpPr>
        <p:spPr>
          <a:xfrm>
            <a:off x="502920"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15 — Quarantine recovery and available actions</a:t>
            </a:r>
            <a:endParaRPr lang="en-US" sz="850" dirty="0"/>
          </a:p>
        </p:txBody>
      </p:sp>
      <p:sp>
        <p:nvSpPr>
          <p:cNvPr id="12" name="Shape 8"/>
          <p:cNvSpPr/>
          <p:nvPr/>
        </p:nvSpPr>
        <p:spPr>
          <a:xfrm>
            <a:off x="6163056"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3" name="Image 2" descr="/mnt/data/image(20261014-092108).png">    </p:cNvPr>
          <p:cNvPicPr>
            <a:picLocks noChangeAspect="1"/>
          </p:cNvPicPr>
          <p:nvPr/>
        </p:nvPicPr>
        <p:blipFill>
          <a:blip r:embed="rId3"/>
          <a:stretch>
            <a:fillRect/>
          </a:stretch>
        </p:blipFill>
        <p:spPr>
          <a:xfrm>
            <a:off x="6217920" y="2132538"/>
            <a:ext cx="5422392" cy="2355180"/>
          </a:xfrm>
          <a:prstGeom prst="rect">
            <a:avLst/>
          </a:prstGeom>
        </p:spPr>
      </p:pic>
      <p:sp>
        <p:nvSpPr>
          <p:cNvPr id="14" name="Text 9"/>
          <p:cNvSpPr/>
          <p:nvPr/>
        </p:nvSpPr>
        <p:spPr>
          <a:xfrm>
            <a:off x="6163056"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16 — Quarantine recovery audit timeline</a:t>
            </a:r>
            <a:endParaRPr lang="en-US" sz="850" dirty="0"/>
          </a:p>
        </p:txBody>
      </p:sp>
      <p:sp>
        <p:nvSpPr>
          <p:cNvPr id="15" name="Text 10"/>
          <p:cNvSpPr/>
          <p:nvPr/>
        </p:nvSpPr>
        <p:spPr>
          <a:xfrm>
            <a:off x="685800" y="5806440"/>
            <a:ext cx="10835640" cy="402336"/>
          </a:xfrm>
          <a:prstGeom prst="rect">
            <a:avLst/>
          </a:prstGeom>
          <a:noFill/>
          <a:ln/>
        </p:spPr>
        <p:txBody>
          <a:bodyPr wrap="square" lIns="0" tIns="0" rIns="0" bIns="0" rtlCol="0" anchor="ctr"/>
          <a:lstStyle/>
          <a:p>
            <a:pPr algn="ctr" indent="0" marL="0">
              <a:buNone/>
            </a:pPr>
            <a:r>
              <a:rPr lang="en-US" sz="1050" dirty="0">
                <a:solidFill>
                  <a:srgbClr val="334E62"/>
                </a:solidFill>
                <a:latin typeface="Arial" pitchFamily="34" charset="0"/>
                <a:ea typeface="Arial" pitchFamily="34" charset="-122"/>
                <a:cs typeface="Arial" pitchFamily="34" charset="-120"/>
              </a:rPr>
              <a:t>Read the original issue and source context first. Correct and resubmit only when the source value can be safely corrected; Reject row when it should not proceed. The original values and recovery history remain recorded for audit.</a:t>
            </a:r>
            <a:endParaRPr lang="en-US" sz="1050" dirty="0"/>
          </a:p>
        </p:txBody>
      </p:sp>
      <p:sp>
        <p:nvSpPr>
          <p:cNvPr id="16" name="Shape 11"/>
          <p:cNvSpPr/>
          <p:nvPr/>
        </p:nvSpPr>
        <p:spPr>
          <a:xfrm>
            <a:off x="384048" y="6419088"/>
            <a:ext cx="11338560" cy="0"/>
          </a:xfrm>
          <a:prstGeom prst="line">
            <a:avLst/>
          </a:prstGeom>
          <a:noFill/>
          <a:ln w="10160">
            <a:solidFill>
              <a:srgbClr val="D4DEE6"/>
            </a:solidFill>
            <a:prstDash val="solid"/>
          </a:ln>
        </p:spPr>
      </p:sp>
      <p:sp>
        <p:nvSpPr>
          <p:cNvPr id="17" name="Text 12"/>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13. Verify Processing History</a:t>
            </a:r>
            <a:endParaRPr lang="en-US" sz="2100" dirty="0"/>
          </a:p>
        </p:txBody>
      </p:sp>
      <p:sp>
        <p:nvSpPr>
          <p:cNvPr id="9" name="Shape 6"/>
          <p:cNvSpPr/>
          <p:nvPr/>
        </p:nvSpPr>
        <p:spPr>
          <a:xfrm>
            <a:off x="502920"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0" name="Image 1" descr="/mnt/data/image(20261014-092411).png">    </p:cNvPr>
          <p:cNvPicPr>
            <a:picLocks noChangeAspect="1"/>
          </p:cNvPicPr>
          <p:nvPr/>
        </p:nvPicPr>
        <p:blipFill>
          <a:blip r:embed="rId2"/>
          <a:stretch>
            <a:fillRect/>
          </a:stretch>
        </p:blipFill>
        <p:spPr>
          <a:xfrm>
            <a:off x="557784" y="2130851"/>
            <a:ext cx="5422392" cy="2358555"/>
          </a:xfrm>
          <a:prstGeom prst="rect">
            <a:avLst/>
          </a:prstGeom>
        </p:spPr>
      </p:pic>
      <p:sp>
        <p:nvSpPr>
          <p:cNvPr id="11" name="Text 7"/>
          <p:cNvSpPr/>
          <p:nvPr/>
        </p:nvSpPr>
        <p:spPr>
          <a:xfrm>
            <a:off x="502920"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17 — Processing History</a:t>
            </a:r>
            <a:endParaRPr lang="en-US" sz="850" dirty="0"/>
          </a:p>
        </p:txBody>
      </p:sp>
      <p:sp>
        <p:nvSpPr>
          <p:cNvPr id="12" name="Shape 8"/>
          <p:cNvSpPr/>
          <p:nvPr/>
        </p:nvSpPr>
        <p:spPr>
          <a:xfrm>
            <a:off x="6163056"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3" name="Image 2" descr="/mnt/data/image(20261014-092724).png">    </p:cNvPr>
          <p:cNvPicPr>
            <a:picLocks noChangeAspect="1"/>
          </p:cNvPicPr>
          <p:nvPr/>
        </p:nvPicPr>
        <p:blipFill>
          <a:blip r:embed="rId3"/>
          <a:stretch>
            <a:fillRect/>
          </a:stretch>
        </p:blipFill>
        <p:spPr>
          <a:xfrm>
            <a:off x="6217920" y="2155255"/>
            <a:ext cx="5422392" cy="2309747"/>
          </a:xfrm>
          <a:prstGeom prst="rect">
            <a:avLst/>
          </a:prstGeom>
        </p:spPr>
      </p:pic>
      <p:sp>
        <p:nvSpPr>
          <p:cNvPr id="14" name="Text 9"/>
          <p:cNvSpPr/>
          <p:nvPr/>
        </p:nvSpPr>
        <p:spPr>
          <a:xfrm>
            <a:off x="6163056"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18 — Processing Details and reconciliation</a:t>
            </a:r>
            <a:endParaRPr lang="en-US" sz="850" dirty="0"/>
          </a:p>
        </p:txBody>
      </p:sp>
      <p:sp>
        <p:nvSpPr>
          <p:cNvPr id="15" name="Text 10"/>
          <p:cNvSpPr/>
          <p:nvPr/>
        </p:nvSpPr>
        <p:spPr>
          <a:xfrm>
            <a:off x="685800" y="5806440"/>
            <a:ext cx="10835640" cy="402336"/>
          </a:xfrm>
          <a:prstGeom prst="rect">
            <a:avLst/>
          </a:prstGeom>
          <a:noFill/>
          <a:ln/>
        </p:spPr>
        <p:txBody>
          <a:bodyPr wrap="square" lIns="0" tIns="0" rIns="0" bIns="0" rtlCol="0" anchor="ctr"/>
          <a:lstStyle/>
          <a:p>
            <a:pPr algn="ctr" indent="0" marL="0">
              <a:buNone/>
            </a:pPr>
            <a:r>
              <a:rPr lang="en-US" sz="1050" dirty="0">
                <a:solidFill>
                  <a:srgbClr val="334E62"/>
                </a:solidFill>
                <a:latin typeface="Arial" pitchFamily="34" charset="0"/>
                <a:ea typeface="Arial" pitchFamily="34" charset="-122"/>
                <a:cs typeface="Arial" pitchFamily="34" charset="-120"/>
              </a:rPr>
              <a:t>Use Processing History to locate a run by source file, uploader or time. Open Processing Details to reconcile Received = Accepted + Quarantined + Duplicate + Failed + Pending and confirm the recorded row outcomes agree.</a:t>
            </a:r>
            <a:endParaRPr lang="en-US" sz="1050" dirty="0"/>
          </a:p>
        </p:txBody>
      </p:sp>
      <p:sp>
        <p:nvSpPr>
          <p:cNvPr id="16" name="Shape 11"/>
          <p:cNvSpPr/>
          <p:nvPr/>
        </p:nvSpPr>
        <p:spPr>
          <a:xfrm>
            <a:off x="384048" y="6419088"/>
            <a:ext cx="11338560" cy="0"/>
          </a:xfrm>
          <a:prstGeom prst="line">
            <a:avLst/>
          </a:prstGeom>
          <a:noFill/>
          <a:ln w="10160">
            <a:solidFill>
              <a:srgbClr val="D4DEE6"/>
            </a:solidFill>
            <a:prstDash val="solid"/>
          </a:ln>
        </p:spPr>
      </p:sp>
      <p:sp>
        <p:nvSpPr>
          <p:cNvPr id="17" name="Text 12"/>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14. Inspect row outcomes</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Use the outcome tabs to isolate Accepted, Quarantined, Duplicate, Failed or Pending rows.</a:t>
            </a:r>
            <a:endParaRPr lang="en-US" sz="1170" dirty="0"/>
          </a:p>
          <a:p>
            <a:r>
              <a:rPr lang="en-US" sz="1170" dirty="0">
                <a:solidFill>
                  <a:srgbClr val="334E62"/>
                </a:solidFill>
                <a:latin typeface="Arial" pitchFamily="34" charset="0"/>
                <a:ea typeface="Arial" pitchFamily="34" charset="-122"/>
                <a:cs typeface="Arial" pitchFamily="34" charset="-120"/>
              </a:rPr>
              <a:t>Open View issue when a quarantined row needs investigation.</a:t>
            </a:r>
            <a:endParaRPr lang="en-US" sz="1170" dirty="0"/>
          </a:p>
          <a:p>
            <a:r>
              <a:rPr lang="en-US" sz="1170" dirty="0">
                <a:solidFill>
                  <a:srgbClr val="334E62"/>
                </a:solidFill>
                <a:latin typeface="Arial" pitchFamily="34" charset="0"/>
                <a:ea typeface="Arial" pitchFamily="34" charset="-122"/>
                <a:cs typeface="Arial" pitchFamily="34" charset="-120"/>
              </a:rPr>
              <a:t>Use Row timeline when the row lifecycle needs to be explained.</a:t>
            </a:r>
            <a:endParaRPr lang="en-US" sz="1170" dirty="0"/>
          </a:p>
          <a:p>
            <a:r>
              <a:rPr lang="en-US" sz="1170" dirty="0">
                <a:solidFill>
                  <a:srgbClr val="334E62"/>
                </a:solidFill>
                <a:latin typeface="Arial" pitchFamily="34" charset="0"/>
                <a:ea typeface="Arial" pitchFamily="34" charset="-122"/>
                <a:cs typeface="Arial" pitchFamily="34" charset="-120"/>
              </a:rPr>
              <a:t>Keep processing outcomes tied to the recorded Processing Run.</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This screen supports reconciliation and evidence review.</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92824).png">    </p:cNvPr>
          <p:cNvPicPr>
            <a:picLocks noChangeAspect="1"/>
          </p:cNvPicPr>
          <p:nvPr/>
        </p:nvPicPr>
        <p:blipFill>
          <a:blip r:embed="rId2"/>
          <a:stretch>
            <a:fillRect/>
          </a:stretch>
        </p:blipFill>
        <p:spPr>
          <a:xfrm>
            <a:off x="4672584" y="2044437"/>
            <a:ext cx="6949440" cy="2997726"/>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19 — Row Outcomes showing quarantine reasons and follow-up actions</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15. Review assigned accounts</a:t>
            </a:r>
            <a:endParaRPr lang="en-US" sz="2100" dirty="0"/>
          </a:p>
        </p:txBody>
      </p:sp>
      <p:sp>
        <p:nvSpPr>
          <p:cNvPr id="9" name="Shape 6"/>
          <p:cNvSpPr/>
          <p:nvPr/>
        </p:nvSpPr>
        <p:spPr>
          <a:xfrm>
            <a:off x="502920"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0" name="Image 1" descr="/mnt/data/image(20261014-093019).png">    </p:cNvPr>
          <p:cNvPicPr>
            <a:picLocks noChangeAspect="1"/>
          </p:cNvPicPr>
          <p:nvPr/>
        </p:nvPicPr>
        <p:blipFill>
          <a:blip r:embed="rId2"/>
          <a:stretch>
            <a:fillRect/>
          </a:stretch>
        </p:blipFill>
        <p:spPr>
          <a:xfrm>
            <a:off x="557784" y="2133842"/>
            <a:ext cx="5422392" cy="2352572"/>
          </a:xfrm>
          <a:prstGeom prst="rect">
            <a:avLst/>
          </a:prstGeom>
        </p:spPr>
      </p:pic>
      <p:sp>
        <p:nvSpPr>
          <p:cNvPr id="11" name="Text 7"/>
          <p:cNvSpPr/>
          <p:nvPr/>
        </p:nvSpPr>
        <p:spPr>
          <a:xfrm>
            <a:off x="502920"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20 — Assigned accounts</a:t>
            </a:r>
            <a:endParaRPr lang="en-US" sz="850" dirty="0"/>
          </a:p>
        </p:txBody>
      </p:sp>
      <p:sp>
        <p:nvSpPr>
          <p:cNvPr id="12" name="Shape 8"/>
          <p:cNvSpPr/>
          <p:nvPr/>
        </p:nvSpPr>
        <p:spPr>
          <a:xfrm>
            <a:off x="6163056"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3" name="Image 2" descr="/mnt/data/image(20261014-093344).png">    </p:cNvPr>
          <p:cNvPicPr>
            <a:picLocks noChangeAspect="1"/>
          </p:cNvPicPr>
          <p:nvPr/>
        </p:nvPicPr>
        <p:blipFill>
          <a:blip r:embed="rId3"/>
          <a:stretch>
            <a:fillRect/>
          </a:stretch>
        </p:blipFill>
        <p:spPr>
          <a:xfrm>
            <a:off x="6217920" y="2132032"/>
            <a:ext cx="5422392" cy="2356193"/>
          </a:xfrm>
          <a:prstGeom prst="rect">
            <a:avLst/>
          </a:prstGeom>
        </p:spPr>
      </p:pic>
      <p:sp>
        <p:nvSpPr>
          <p:cNvPr id="14" name="Text 9"/>
          <p:cNvSpPr/>
          <p:nvPr/>
        </p:nvSpPr>
        <p:spPr>
          <a:xfrm>
            <a:off x="6163056"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21 — Account History</a:t>
            </a:r>
            <a:endParaRPr lang="en-US" sz="850" dirty="0"/>
          </a:p>
        </p:txBody>
      </p:sp>
      <p:sp>
        <p:nvSpPr>
          <p:cNvPr id="15" name="Text 10"/>
          <p:cNvSpPr/>
          <p:nvPr/>
        </p:nvSpPr>
        <p:spPr>
          <a:xfrm>
            <a:off x="685800" y="5806440"/>
            <a:ext cx="10835640" cy="402336"/>
          </a:xfrm>
          <a:prstGeom prst="rect">
            <a:avLst/>
          </a:prstGeom>
          <a:noFill/>
          <a:ln/>
        </p:spPr>
        <p:txBody>
          <a:bodyPr wrap="square" lIns="0" tIns="0" rIns="0" bIns="0" rtlCol="0" anchor="ctr"/>
          <a:lstStyle/>
          <a:p>
            <a:pPr algn="ctr" indent="0" marL="0">
              <a:buNone/>
            </a:pPr>
            <a:r>
              <a:rPr lang="en-US" sz="1050" dirty="0">
                <a:solidFill>
                  <a:srgbClr val="334E62"/>
                </a:solidFill>
                <a:latin typeface="Arial" pitchFamily="34" charset="0"/>
                <a:ea typeface="Arial" pitchFamily="34" charset="-122"/>
                <a:cs typeface="Arial" pitchFamily="34" charset="-120"/>
              </a:rPr>
              <a:t>Open only accounts available within the Analyst scope. Account History brings transaction activity, risk state and review state together so the Analyst can move from account context into the relevant investigation.</a:t>
            </a:r>
            <a:endParaRPr lang="en-US" sz="1050" dirty="0"/>
          </a:p>
        </p:txBody>
      </p:sp>
      <p:sp>
        <p:nvSpPr>
          <p:cNvPr id="16" name="Shape 11"/>
          <p:cNvSpPr/>
          <p:nvPr/>
        </p:nvSpPr>
        <p:spPr>
          <a:xfrm>
            <a:off x="384048" y="6419088"/>
            <a:ext cx="11338560" cy="0"/>
          </a:xfrm>
          <a:prstGeom prst="line">
            <a:avLst/>
          </a:prstGeom>
          <a:noFill/>
          <a:ln w="10160">
            <a:solidFill>
              <a:srgbClr val="D4DEE6"/>
            </a:solidFill>
            <a:prstDash val="solid"/>
          </a:ln>
        </p:spPr>
      </p:sp>
      <p:sp>
        <p:nvSpPr>
          <p:cNvPr id="17" name="Text 12"/>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16. Analyse activity with Insights</a:t>
            </a:r>
            <a:endParaRPr lang="en-US" sz="2100" dirty="0"/>
          </a:p>
        </p:txBody>
      </p:sp>
      <p:sp>
        <p:nvSpPr>
          <p:cNvPr id="9" name="Shape 6"/>
          <p:cNvSpPr/>
          <p:nvPr/>
        </p:nvSpPr>
        <p:spPr>
          <a:xfrm>
            <a:off x="502920"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0" name="Image 1" descr="/mnt/data/image(20261014-093529).png">    </p:cNvPr>
          <p:cNvPicPr>
            <a:picLocks noChangeAspect="1"/>
          </p:cNvPicPr>
          <p:nvPr/>
        </p:nvPicPr>
        <p:blipFill>
          <a:blip r:embed="rId2"/>
          <a:stretch>
            <a:fillRect/>
          </a:stretch>
        </p:blipFill>
        <p:spPr>
          <a:xfrm>
            <a:off x="557784" y="2128434"/>
            <a:ext cx="5422392" cy="2363387"/>
          </a:xfrm>
          <a:prstGeom prst="rect">
            <a:avLst/>
          </a:prstGeom>
        </p:spPr>
      </p:pic>
      <p:sp>
        <p:nvSpPr>
          <p:cNvPr id="11" name="Text 7"/>
          <p:cNvSpPr/>
          <p:nvPr/>
        </p:nvSpPr>
        <p:spPr>
          <a:xfrm>
            <a:off x="502920"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22 — Custom analytical filters</a:t>
            </a:r>
            <a:endParaRPr lang="en-US" sz="850" dirty="0"/>
          </a:p>
        </p:txBody>
      </p:sp>
      <p:sp>
        <p:nvSpPr>
          <p:cNvPr id="12" name="Shape 8"/>
          <p:cNvSpPr/>
          <p:nvPr/>
        </p:nvSpPr>
        <p:spPr>
          <a:xfrm>
            <a:off x="6163056" y="1115568"/>
            <a:ext cx="5532120" cy="4389120"/>
          </a:xfrm>
          <a:prstGeom prst="roundRect">
            <a:avLst>
              <a:gd name="adj" fmla="val 104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3" name="Image 2" descr="/mnt/data/image(20261014-093550).png">    </p:cNvPr>
          <p:cNvPicPr>
            <a:picLocks noChangeAspect="1"/>
          </p:cNvPicPr>
          <p:nvPr/>
        </p:nvPicPr>
        <p:blipFill>
          <a:blip r:embed="rId3"/>
          <a:stretch>
            <a:fillRect/>
          </a:stretch>
        </p:blipFill>
        <p:spPr>
          <a:xfrm>
            <a:off x="6217920" y="2133274"/>
            <a:ext cx="5422392" cy="2353707"/>
          </a:xfrm>
          <a:prstGeom prst="rect">
            <a:avLst/>
          </a:prstGeom>
        </p:spPr>
      </p:pic>
      <p:sp>
        <p:nvSpPr>
          <p:cNvPr id="14" name="Text 9"/>
          <p:cNvSpPr/>
          <p:nvPr/>
        </p:nvSpPr>
        <p:spPr>
          <a:xfrm>
            <a:off x="6163056" y="5559552"/>
            <a:ext cx="5532120"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23 — Transaction activity and cross-border analysis</a:t>
            </a:r>
            <a:endParaRPr lang="en-US" sz="850" dirty="0"/>
          </a:p>
        </p:txBody>
      </p:sp>
      <p:sp>
        <p:nvSpPr>
          <p:cNvPr id="15" name="Text 10"/>
          <p:cNvSpPr/>
          <p:nvPr/>
        </p:nvSpPr>
        <p:spPr>
          <a:xfrm>
            <a:off x="685800" y="5806440"/>
            <a:ext cx="10835640" cy="402336"/>
          </a:xfrm>
          <a:prstGeom prst="rect">
            <a:avLst/>
          </a:prstGeom>
          <a:noFill/>
          <a:ln/>
        </p:spPr>
        <p:txBody>
          <a:bodyPr wrap="square" lIns="0" tIns="0" rIns="0" bIns="0" rtlCol="0" anchor="ctr"/>
          <a:lstStyle/>
          <a:p>
            <a:pPr algn="ctr" indent="0" marL="0">
              <a:buNone/>
            </a:pPr>
            <a:r>
              <a:rPr lang="en-US" sz="1040" dirty="0">
                <a:solidFill>
                  <a:srgbClr val="334E62"/>
                </a:solidFill>
                <a:latin typeface="Arial" pitchFamily="34" charset="0"/>
                <a:ea typeface="Arial" pitchFamily="34" charset="-122"/>
                <a:cs typeface="Arial" pitchFamily="34" charset="-120"/>
              </a:rPr>
              <a:t>Set the account and date scope first. Use the custom SAST date period when the default windows are not enough. Read the activity and cross-border views together, then use investigation links where the chart points to a transaction-level question.</a:t>
            </a:r>
            <a:endParaRPr lang="en-US" sz="1040" dirty="0"/>
          </a:p>
        </p:txBody>
      </p:sp>
      <p:sp>
        <p:nvSpPr>
          <p:cNvPr id="16" name="Shape 11"/>
          <p:cNvSpPr/>
          <p:nvPr/>
        </p:nvSpPr>
        <p:spPr>
          <a:xfrm>
            <a:off x="384048" y="6419088"/>
            <a:ext cx="11338560" cy="0"/>
          </a:xfrm>
          <a:prstGeom prst="line">
            <a:avLst/>
          </a:prstGeom>
          <a:noFill/>
          <a:ln w="10160">
            <a:solidFill>
              <a:srgbClr val="D4DEE6"/>
            </a:solidFill>
            <a:prstDash val="solid"/>
          </a:ln>
        </p:spPr>
      </p:sp>
      <p:sp>
        <p:nvSpPr>
          <p:cNvPr id="17" name="Text 12"/>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17. Use risk analysis as an investigation entry point</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Review the risk distribution for the selected scope.</a:t>
            </a:r>
            <a:endParaRPr lang="en-US" sz="1170" dirty="0"/>
          </a:p>
          <a:p>
            <a:r>
              <a:rPr lang="en-US" sz="1170" dirty="0">
                <a:solidFill>
                  <a:srgbClr val="334E62"/>
                </a:solidFill>
                <a:latin typeface="Arial" pitchFamily="34" charset="0"/>
                <a:ea typeface="Arial" pitchFamily="34" charset="-122"/>
                <a:cs typeface="Arial" pitchFamily="34" charset="-120"/>
              </a:rPr>
              <a:t>Use recorded risk dimensions to understand what is driving the distribution.</a:t>
            </a:r>
            <a:endParaRPr lang="en-US" sz="1170" dirty="0"/>
          </a:p>
          <a:p>
            <a:r>
              <a:rPr lang="en-US" sz="1170" dirty="0">
                <a:solidFill>
                  <a:srgbClr val="334E62"/>
                </a:solidFill>
                <a:latin typeface="Arial" pitchFamily="34" charset="0"/>
                <a:ea typeface="Arial" pitchFamily="34" charset="-122"/>
                <a:cs typeface="Arial" pitchFamily="34" charset="-120"/>
              </a:rPr>
              <a:t>Do not treat charts as final decisions.</a:t>
            </a:r>
            <a:endParaRPr lang="en-US" sz="1170" dirty="0"/>
          </a:p>
          <a:p>
            <a:r>
              <a:rPr lang="en-US" sz="1170" dirty="0">
                <a:solidFill>
                  <a:srgbClr val="334E62"/>
                </a:solidFill>
                <a:latin typeface="Arial" pitchFamily="34" charset="0"/>
                <a:ea typeface="Arial" pitchFamily="34" charset="-122"/>
                <a:cs typeface="Arial" pitchFamily="34" charset="-120"/>
              </a:rPr>
              <a:t>Open the matching transactions when a pattern needs case-level investigation.</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Insights helps find the question; the investigation workspace records the decision.</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094219).png">    </p:cNvPr>
          <p:cNvPicPr>
            <a:picLocks noChangeAspect="1"/>
          </p:cNvPicPr>
          <p:nvPr/>
        </p:nvPicPr>
        <p:blipFill>
          <a:blip r:embed="rId2"/>
          <a:stretch>
            <a:fillRect/>
          </a:stretch>
        </p:blipFill>
        <p:spPr>
          <a:xfrm>
            <a:off x="4672584" y="2032154"/>
            <a:ext cx="6949440" cy="3022292"/>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24 — Risk distribution and recorded risk dimensions</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18. Produce Analyst reports</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Choose the account scope.</a:t>
            </a:r>
            <a:endParaRPr lang="en-US" sz="1170" dirty="0"/>
          </a:p>
          <a:p>
            <a:r>
              <a:rPr lang="en-US" sz="1170" dirty="0">
                <a:solidFill>
                  <a:srgbClr val="334E62"/>
                </a:solidFill>
                <a:latin typeface="Arial" pitchFamily="34" charset="0"/>
                <a:ea typeface="Arial" pitchFamily="34" charset="-122"/>
                <a:cs typeface="Arial" pitchFamily="34" charset="-120"/>
              </a:rPr>
              <a:t>Set From and To using the SAST date controls.</a:t>
            </a:r>
            <a:endParaRPr lang="en-US" sz="1170" dirty="0"/>
          </a:p>
          <a:p>
            <a:r>
              <a:rPr lang="en-US" sz="1170" dirty="0">
                <a:solidFill>
                  <a:srgbClr val="334E62"/>
                </a:solidFill>
                <a:latin typeface="Arial" pitchFamily="34" charset="0"/>
                <a:ea typeface="Arial" pitchFamily="34" charset="-122"/>
                <a:cs typeface="Arial" pitchFamily="34" charset="-120"/>
              </a:rPr>
              <a:t>Filter by currency when required.</a:t>
            </a:r>
            <a:endParaRPr lang="en-US" sz="1170" dirty="0"/>
          </a:p>
          <a:p>
            <a:r>
              <a:rPr lang="en-US" sz="1170" dirty="0">
                <a:solidFill>
                  <a:srgbClr val="334E62"/>
                </a:solidFill>
                <a:latin typeface="Arial" pitchFamily="34" charset="0"/>
                <a:ea typeface="Arial" pitchFamily="34" charset="-122"/>
                <a:cs typeface="Arial" pitchFamily="34" charset="-120"/>
              </a:rPr>
              <a:t>Keep different currencies separate; the workbench does not perform FX conversion.</a:t>
            </a:r>
            <a:endParaRPr lang="en-US" sz="1170" dirty="0"/>
          </a:p>
          <a:p>
            <a:r>
              <a:rPr lang="en-US" sz="1170" dirty="0">
                <a:solidFill>
                  <a:srgbClr val="334E62"/>
                </a:solidFill>
                <a:latin typeface="Arial" pitchFamily="34" charset="0"/>
                <a:ea typeface="Arial" pitchFamily="34" charset="-122"/>
                <a:cs typeface="Arial" pitchFamily="34" charset="-120"/>
              </a:rPr>
              <a:t>Export the current report as CSV or JSON when evidence must be shared or retained.</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Reports summarize accepted ledger activity — not quarantined rows.</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100833).png">    </p:cNvPr>
          <p:cNvPicPr>
            <a:picLocks noChangeAspect="1"/>
          </p:cNvPicPr>
          <p:nvPr/>
        </p:nvPicPr>
        <p:blipFill>
          <a:blip r:embed="rId2"/>
          <a:stretch>
            <a:fillRect/>
          </a:stretch>
        </p:blipFill>
        <p:spPr>
          <a:xfrm>
            <a:off x="4672584" y="2032632"/>
            <a:ext cx="6949440" cy="3021336"/>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25 — Reports with account, SAST date and currency filters</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ANALYST SOP</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19. Review Notifications</a:t>
            </a:r>
            <a:endParaRPr lang="en-US" sz="2100" dirty="0"/>
          </a:p>
        </p:txBody>
      </p:sp>
      <p:sp>
        <p:nvSpPr>
          <p:cNvPr id="9" name="Shape 6"/>
          <p:cNvSpPr/>
          <p:nvPr/>
        </p:nvSpPr>
        <p:spPr>
          <a:xfrm>
            <a:off x="530352" y="1143000"/>
            <a:ext cx="3886200" cy="4800600"/>
          </a:xfrm>
          <a:prstGeom prst="roundRect">
            <a:avLst>
              <a:gd name="adj" fmla="val 1412"/>
            </a:avLst>
          </a:prstGeom>
          <a:solidFill>
            <a:srgbClr val="FFFFFF"/>
          </a:solidFill>
          <a:ln w="12700">
            <a:solidFill>
              <a:srgbClr val="D4DEE6"/>
            </a:solidFill>
            <a:prstDash val="solid"/>
          </a:ln>
          <a:effectLst>
            <a:outerShdw sx="100000" sy="100000" kx="0" ky="0" algn="bl" rotWithShape="0" blurRad="15240" dist="6350" dir="2700000">
              <a:srgbClr val="000000">
                <a:alpha val="12000"/>
              </a:srgbClr>
            </a:outerShdw>
          </a:effectLst>
        </p:spPr>
      </p:sp>
      <p:sp>
        <p:nvSpPr>
          <p:cNvPr id="10" name="Shape 7"/>
          <p:cNvSpPr/>
          <p:nvPr/>
        </p:nvSpPr>
        <p:spPr>
          <a:xfrm>
            <a:off x="530352" y="1143000"/>
            <a:ext cx="54864" cy="4800600"/>
          </a:xfrm>
          <a:prstGeom prst="rect">
            <a:avLst/>
          </a:prstGeom>
          <a:solidFill>
            <a:srgbClr val="2B8F7D"/>
          </a:solidFill>
          <a:ln w="12700">
            <a:solidFill>
              <a:srgbClr val="2B8F7D"/>
            </a:solidFill>
            <a:prstDash val="solid"/>
          </a:ln>
        </p:spPr>
      </p:sp>
      <p:sp>
        <p:nvSpPr>
          <p:cNvPr id="11" name="Text 8"/>
          <p:cNvSpPr/>
          <p:nvPr/>
        </p:nvSpPr>
        <p:spPr>
          <a:xfrm>
            <a:off x="740664" y="1307592"/>
            <a:ext cx="3483864" cy="256032"/>
          </a:xfrm>
          <a:prstGeom prst="rect">
            <a:avLst/>
          </a:prstGeom>
          <a:noFill/>
          <a:ln/>
        </p:spPr>
        <p:txBody>
          <a:bodyPr wrap="square" lIns="0" tIns="0" rIns="0" bIns="0" rtlCol="0" anchor="ctr"/>
          <a:lstStyle/>
          <a:p>
            <a:pPr indent="0" marL="0">
              <a:buNone/>
            </a:pPr>
            <a:r>
              <a:rPr lang="en-US" sz="1500" b="1" dirty="0">
                <a:solidFill>
                  <a:srgbClr val="17354A"/>
                </a:solidFill>
                <a:latin typeface="Arial" pitchFamily="34" charset="0"/>
                <a:ea typeface="Arial" pitchFamily="34" charset="-122"/>
                <a:cs typeface="Arial" pitchFamily="34" charset="-120"/>
              </a:rPr>
              <a:t>Procedure</a:t>
            </a:r>
            <a:endParaRPr lang="en-US" sz="1500" dirty="0"/>
          </a:p>
        </p:txBody>
      </p:sp>
      <p:sp>
        <p:nvSpPr>
          <p:cNvPr id="12" name="Text 9"/>
          <p:cNvSpPr/>
          <p:nvPr/>
        </p:nvSpPr>
        <p:spPr>
          <a:xfrm>
            <a:off x="758952" y="1709928"/>
            <a:ext cx="3447288" cy="3749040"/>
          </a:xfrm>
          <a:prstGeom prst="rect">
            <a:avLst/>
          </a:prstGeom>
          <a:noFill/>
          <a:ln/>
        </p:spPr>
        <p:txBody>
          <a:bodyPr wrap="square" lIns="254" tIns="254" rIns="254" bIns="254" rtlCol="0" anchor="t"/>
          <a:lstStyle/>
          <a:p>
            <a:r>
              <a:rPr lang="en-US" sz="1170" dirty="0">
                <a:solidFill>
                  <a:srgbClr val="334E62"/>
                </a:solidFill>
                <a:latin typeface="Arial" pitchFamily="34" charset="0"/>
                <a:ea typeface="Arial" pitchFamily="34" charset="-122"/>
                <a:cs typeface="Arial" pitchFamily="34" charset="-120"/>
              </a:rPr>
              <a:t>Read the notification message and timestamp.</a:t>
            </a:r>
            <a:endParaRPr lang="en-US" sz="1170" dirty="0"/>
          </a:p>
          <a:p>
            <a:r>
              <a:rPr lang="en-US" sz="1170" dirty="0">
                <a:solidFill>
                  <a:srgbClr val="334E62"/>
                </a:solidFill>
                <a:latin typeface="Arial" pitchFamily="34" charset="0"/>
                <a:ea typeface="Arial" pitchFamily="34" charset="-122"/>
                <a:cs typeface="Arial" pitchFamily="34" charset="-120"/>
              </a:rPr>
              <a:t>Use the linked action to open the relevant operational record.</a:t>
            </a:r>
            <a:endParaRPr lang="en-US" sz="1170" dirty="0"/>
          </a:p>
          <a:p>
            <a:r>
              <a:rPr lang="en-US" sz="1170" dirty="0">
                <a:solidFill>
                  <a:srgbClr val="334E62"/>
                </a:solidFill>
                <a:latin typeface="Arial" pitchFamily="34" charset="0"/>
                <a:ea typeface="Arial" pitchFamily="34" charset="-122"/>
                <a:cs typeface="Arial" pitchFamily="34" charset="-120"/>
              </a:rPr>
              <a:t>Mark the notification as read after it has been handled.</a:t>
            </a:r>
            <a:endParaRPr lang="en-US" sz="1170" dirty="0"/>
          </a:p>
          <a:p>
            <a:r>
              <a:rPr lang="en-US" sz="1170" dirty="0">
                <a:solidFill>
                  <a:srgbClr val="334E62"/>
                </a:solidFill>
                <a:latin typeface="Arial" pitchFamily="34" charset="0"/>
                <a:ea typeface="Arial" pitchFamily="34" charset="-122"/>
                <a:cs typeface="Arial" pitchFamily="34" charset="-120"/>
              </a:rPr>
              <a:t>Remember that dismissing a notification does not delete the underlying processing or audit evidence.</a:t>
            </a:r>
            <a:endParaRPr lang="en-US" sz="1170" dirty="0"/>
          </a:p>
        </p:txBody>
      </p:sp>
      <p:sp>
        <p:nvSpPr>
          <p:cNvPr id="13" name="Shape 10"/>
          <p:cNvSpPr/>
          <p:nvPr/>
        </p:nvSpPr>
        <p:spPr>
          <a:xfrm>
            <a:off x="731520" y="5440680"/>
            <a:ext cx="3483864" cy="347472"/>
          </a:xfrm>
          <a:prstGeom prst="roundRect">
            <a:avLst>
              <a:gd name="adj" fmla="val 10526"/>
            </a:avLst>
          </a:prstGeom>
          <a:solidFill>
            <a:srgbClr val="E8F4F0"/>
          </a:solidFill>
          <a:ln w="12700">
            <a:solidFill>
              <a:srgbClr val="E8F4F0"/>
            </a:solidFill>
            <a:prstDash val="solid"/>
          </a:ln>
        </p:spPr>
      </p:sp>
      <p:sp>
        <p:nvSpPr>
          <p:cNvPr id="14" name="Text 11"/>
          <p:cNvSpPr/>
          <p:nvPr/>
        </p:nvSpPr>
        <p:spPr>
          <a:xfrm>
            <a:off x="850392" y="5522976"/>
            <a:ext cx="3246120" cy="164592"/>
          </a:xfrm>
          <a:prstGeom prst="rect">
            <a:avLst/>
          </a:prstGeom>
          <a:noFill/>
          <a:ln/>
        </p:spPr>
        <p:txBody>
          <a:bodyPr wrap="square" lIns="0" tIns="0" rIns="0" bIns="0" rtlCol="0" anchor="ctr"/>
          <a:lstStyle/>
          <a:p>
            <a:pPr indent="0" marL="0">
              <a:buNone/>
            </a:pPr>
            <a:r>
              <a:rPr lang="en-US" sz="950" b="1" dirty="0">
                <a:solidFill>
                  <a:srgbClr val="1F6C5E"/>
                </a:solidFill>
                <a:latin typeface="Arial" pitchFamily="34" charset="0"/>
                <a:ea typeface="Arial" pitchFamily="34" charset="-122"/>
                <a:cs typeface="Arial" pitchFamily="34" charset="-120"/>
              </a:rPr>
              <a:t>Notifications point to work; Processing History remains the evidence source.</a:t>
            </a:r>
            <a:endParaRPr lang="en-US" sz="950" dirty="0"/>
          </a:p>
        </p:txBody>
      </p:sp>
      <p:sp>
        <p:nvSpPr>
          <p:cNvPr id="15" name="Shape 12"/>
          <p:cNvSpPr/>
          <p:nvPr/>
        </p:nvSpPr>
        <p:spPr>
          <a:xfrm>
            <a:off x="4617720" y="1143000"/>
            <a:ext cx="7059168" cy="4800600"/>
          </a:xfrm>
          <a:prstGeom prst="roundRect">
            <a:avLst>
              <a:gd name="adj" fmla="val 952"/>
            </a:avLst>
          </a:prstGeom>
          <a:solidFill>
            <a:srgbClr val="FFFFFF"/>
          </a:solidFill>
          <a:ln w="12700">
            <a:solidFill>
              <a:srgbClr val="D4DEE6"/>
            </a:solidFill>
            <a:prstDash val="solid"/>
          </a:ln>
          <a:effectLst>
            <a:outerShdw sx="100000" sy="100000" kx="0" ky="0" algn="bl" rotWithShape="0" blurRad="12700" dist="6350" dir="2700000">
              <a:srgbClr val="000000">
                <a:alpha val="10000"/>
              </a:srgbClr>
            </a:outerShdw>
          </a:effectLst>
        </p:spPr>
      </p:sp>
      <p:pic>
        <p:nvPicPr>
          <p:cNvPr id="16" name="Image 1" descr="/mnt/data/image(20261014-101848).png">    </p:cNvPr>
          <p:cNvPicPr>
            <a:picLocks noChangeAspect="1"/>
          </p:cNvPicPr>
          <p:nvPr/>
        </p:nvPicPr>
        <p:blipFill>
          <a:blip r:embed="rId2"/>
          <a:stretch>
            <a:fillRect/>
          </a:stretch>
        </p:blipFill>
        <p:spPr>
          <a:xfrm>
            <a:off x="4672584" y="2022995"/>
            <a:ext cx="6949440" cy="3040611"/>
          </a:xfrm>
          <a:prstGeom prst="rect">
            <a:avLst/>
          </a:prstGeom>
        </p:spPr>
      </p:pic>
      <p:sp>
        <p:nvSpPr>
          <p:cNvPr id="17" name="Text 13"/>
          <p:cNvSpPr/>
          <p:nvPr/>
        </p:nvSpPr>
        <p:spPr>
          <a:xfrm>
            <a:off x="4617720" y="5998464"/>
            <a:ext cx="7059168" cy="219456"/>
          </a:xfrm>
          <a:prstGeom prst="rect">
            <a:avLst/>
          </a:prstGeom>
          <a:noFill/>
          <a:ln/>
        </p:spPr>
        <p:txBody>
          <a:bodyPr wrap="square" lIns="0" tIns="0" rIns="0" bIns="0" rtlCol="0" anchor="ctr"/>
          <a:lstStyle/>
          <a:p>
            <a:pPr algn="ctr" indent="0" marL="0">
              <a:buNone/>
            </a:pPr>
            <a:r>
              <a:rPr lang="en-US" sz="850" i="1" dirty="0">
                <a:solidFill>
                  <a:srgbClr val="6F8293"/>
                </a:solidFill>
                <a:latin typeface="Arial" pitchFamily="34" charset="0"/>
                <a:ea typeface="Arial" pitchFamily="34" charset="-122"/>
                <a:cs typeface="Arial" pitchFamily="34" charset="-120"/>
              </a:rPr>
              <a:t>Figure 26 — Duplicate-file warning with linked follow-up action</a:t>
            </a:r>
            <a:endParaRPr lang="en-US" sz="850" dirty="0"/>
          </a:p>
        </p:txBody>
      </p:sp>
      <p:sp>
        <p:nvSpPr>
          <p:cNvPr id="18" name="Shape 14"/>
          <p:cNvSpPr/>
          <p:nvPr/>
        </p:nvSpPr>
        <p:spPr>
          <a:xfrm>
            <a:off x="384048" y="6419088"/>
            <a:ext cx="11338560" cy="0"/>
          </a:xfrm>
          <a:prstGeom prst="line">
            <a:avLst/>
          </a:prstGeom>
          <a:noFill/>
          <a:ln w="10160">
            <a:solidFill>
              <a:srgbClr val="D4DEE6"/>
            </a:solidFill>
            <a:prstDash val="solid"/>
          </a:ln>
        </p:spPr>
      </p:sp>
      <p:sp>
        <p:nvSpPr>
          <p:cNvPr id="19" name="Text 15"/>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workflow</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FFFFFF"/>
          </a:solidFill>
          <a:ln w="12700">
            <a:solidFill>
              <a:srgbClr val="FFFFFF"/>
            </a:solidFill>
            <a:prstDash val="solid"/>
          </a:ln>
        </p:spPr>
      </p:sp>
      <p:sp>
        <p:nvSpPr>
          <p:cNvPr id="3" name="Shape 1"/>
          <p:cNvSpPr/>
          <p:nvPr/>
        </p:nvSpPr>
        <p:spPr>
          <a:xfrm>
            <a:off x="0" y="777240"/>
            <a:ext cx="12191695" cy="0"/>
          </a:xfrm>
          <a:prstGeom prst="line">
            <a:avLst/>
          </a:prstGeom>
          <a:noFill/>
          <a:ln w="12700">
            <a:solidFill>
              <a:srgbClr val="D4DEE6"/>
            </a:solidFill>
            <a:prstDash val="solid"/>
          </a:ln>
        </p:spPr>
      </p:sp>
      <p:pic>
        <p:nvPicPr>
          <p:cNvPr id="4" name="Image 0" descr="/mnt/data/imbokodo_logo_crop.png">    </p:cNvPr>
          <p:cNvPicPr>
            <a:picLocks noChangeAspect="1"/>
          </p:cNvPicPr>
          <p:nvPr/>
        </p:nvPicPr>
        <p:blipFill>
          <a:blip r:embed="rId1"/>
          <a:stretch>
            <a:fillRect/>
          </a:stretch>
        </p:blipFill>
        <p:spPr>
          <a:xfrm>
            <a:off x="384048" y="182880"/>
            <a:ext cx="420624" cy="420624"/>
          </a:xfrm>
          <a:prstGeom prst="rect">
            <a:avLst/>
          </a:prstGeom>
        </p:spPr>
      </p:pic>
      <p:sp>
        <p:nvSpPr>
          <p:cNvPr id="5" name="Text 2"/>
          <p:cNvSpPr/>
          <p:nvPr/>
        </p:nvSpPr>
        <p:spPr>
          <a:xfrm>
            <a:off x="896112" y="164592"/>
            <a:ext cx="1965960" cy="201168"/>
          </a:xfrm>
          <a:prstGeom prst="rect">
            <a:avLst/>
          </a:prstGeom>
          <a:noFill/>
          <a:ln/>
        </p:spPr>
        <p:txBody>
          <a:bodyPr wrap="square" lIns="0" tIns="0" rIns="0" bIns="0" rtlCol="0" anchor="ctr"/>
          <a:lstStyle/>
          <a:p>
            <a:pPr indent="0" marL="0">
              <a:buNone/>
            </a:pPr>
            <a:r>
              <a:rPr lang="en-US" sz="1400" b="1" dirty="0">
                <a:solidFill>
                  <a:srgbClr val="153447"/>
                </a:solidFill>
                <a:latin typeface="Arial" pitchFamily="34" charset="0"/>
                <a:ea typeface="Arial" pitchFamily="34" charset="-122"/>
                <a:cs typeface="Arial" pitchFamily="34" charset="-120"/>
              </a:rPr>
              <a:t>Imbokodo Bank</a:t>
            </a:r>
            <a:endParaRPr lang="en-US" sz="1400" dirty="0"/>
          </a:p>
        </p:txBody>
      </p:sp>
      <p:sp>
        <p:nvSpPr>
          <p:cNvPr id="6" name="Text 3"/>
          <p:cNvSpPr/>
          <p:nvPr/>
        </p:nvSpPr>
        <p:spPr>
          <a:xfrm>
            <a:off x="896112" y="411480"/>
            <a:ext cx="25603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Risk &amp; Compliance Workbench</a:t>
            </a:r>
            <a:endParaRPr lang="en-US" sz="850" dirty="0"/>
          </a:p>
        </p:txBody>
      </p:sp>
      <p:sp>
        <p:nvSpPr>
          <p:cNvPr id="7" name="Text 4"/>
          <p:cNvSpPr/>
          <p:nvPr/>
        </p:nvSpPr>
        <p:spPr>
          <a:xfrm>
            <a:off x="8732520" y="210312"/>
            <a:ext cx="1645920" cy="182880"/>
          </a:xfrm>
          <a:prstGeom prst="rect">
            <a:avLst/>
          </a:prstGeom>
          <a:noFill/>
          <a:ln/>
        </p:spPr>
        <p:txBody>
          <a:bodyPr wrap="square" lIns="0" tIns="0" rIns="0" bIns="0" rtlCol="0" anchor="ctr"/>
          <a:lstStyle/>
          <a:p>
            <a:pPr algn="r" indent="0" marL="0">
              <a:buNone/>
            </a:pPr>
            <a:r>
              <a:rPr lang="en-US" sz="900" b="1" spc="60" kern="0" dirty="0">
                <a:solidFill>
                  <a:srgbClr val="2B8F7D"/>
                </a:solidFill>
                <a:latin typeface="Arial" pitchFamily="34" charset="0"/>
                <a:ea typeface="Arial" pitchFamily="34" charset="-122"/>
                <a:cs typeface="Arial" pitchFamily="34" charset="-120"/>
              </a:rPr>
              <a:t>DEMO CLOSE</a:t>
            </a:r>
            <a:endParaRPr lang="en-US" sz="900" dirty="0"/>
          </a:p>
        </p:txBody>
      </p:sp>
      <p:sp>
        <p:nvSpPr>
          <p:cNvPr id="8" name="Text 5"/>
          <p:cNvSpPr/>
          <p:nvPr/>
        </p:nvSpPr>
        <p:spPr>
          <a:xfrm>
            <a:off x="3017520" y="182880"/>
            <a:ext cx="5532120" cy="320040"/>
          </a:xfrm>
          <a:prstGeom prst="rect">
            <a:avLst/>
          </a:prstGeom>
          <a:noFill/>
          <a:ln/>
        </p:spPr>
        <p:txBody>
          <a:bodyPr wrap="square" lIns="0" tIns="0" rIns="0" bIns="0" rtlCol="0" anchor="ctr">
            <a:normAutofit/>
          </a:bodyPr>
          <a:lstStyle/>
          <a:p>
            <a:pPr algn="ctr" indent="0" marL="0">
              <a:buNone/>
            </a:pPr>
            <a:r>
              <a:rPr lang="en-US" sz="2100" b="1" dirty="0">
                <a:solidFill>
                  <a:srgbClr val="17354A"/>
                </a:solidFill>
                <a:latin typeface="Arial" pitchFamily="34" charset="0"/>
                <a:ea typeface="Arial" pitchFamily="34" charset="-122"/>
                <a:cs typeface="Arial" pitchFamily="34" charset="-120"/>
              </a:rPr>
              <a:t>Analyst workflow summary</a:t>
            </a:r>
            <a:endParaRPr lang="en-US" sz="2100" dirty="0"/>
          </a:p>
        </p:txBody>
      </p:sp>
      <p:sp>
        <p:nvSpPr>
          <p:cNvPr id="9" name="Shape 6"/>
          <p:cNvSpPr/>
          <p:nvPr/>
        </p:nvSpPr>
        <p:spPr>
          <a:xfrm>
            <a:off x="731520" y="1197864"/>
            <a:ext cx="475488" cy="475488"/>
          </a:xfrm>
          <a:prstGeom prst="ellipse">
            <a:avLst/>
          </a:prstGeom>
          <a:solidFill>
            <a:srgbClr val="2B8F7D"/>
          </a:solidFill>
          <a:ln w="12700">
            <a:solidFill>
              <a:srgbClr val="2B8F7D"/>
            </a:solidFill>
            <a:prstDash val="solid"/>
          </a:ln>
        </p:spPr>
      </p:sp>
      <p:sp>
        <p:nvSpPr>
          <p:cNvPr id="10" name="Text 7"/>
          <p:cNvSpPr/>
          <p:nvPr/>
        </p:nvSpPr>
        <p:spPr>
          <a:xfrm>
            <a:off x="731520" y="1307592"/>
            <a:ext cx="475488" cy="1463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8"/>
          <p:cNvSpPr/>
          <p:nvPr/>
        </p:nvSpPr>
        <p:spPr>
          <a:xfrm>
            <a:off x="1417320" y="1170432"/>
            <a:ext cx="1828800" cy="219456"/>
          </a:xfrm>
          <a:prstGeom prst="rect">
            <a:avLst/>
          </a:prstGeom>
          <a:noFill/>
          <a:ln/>
        </p:spPr>
        <p:txBody>
          <a:bodyPr wrap="square" lIns="0" tIns="0" rIns="0" bIns="0" rtlCol="0" anchor="ctr"/>
          <a:lstStyle/>
          <a:p>
            <a:pPr indent="0" marL="0">
              <a:buNone/>
            </a:pPr>
            <a:r>
              <a:rPr lang="en-US" sz="1300" b="1" dirty="0">
                <a:solidFill>
                  <a:srgbClr val="17354A"/>
                </a:solidFill>
                <a:latin typeface="Arial" pitchFamily="34" charset="0"/>
                <a:ea typeface="Arial" pitchFamily="34" charset="-122"/>
                <a:cs typeface="Arial" pitchFamily="34" charset="-120"/>
              </a:rPr>
              <a:t>TRIAGE</a:t>
            </a:r>
            <a:endParaRPr lang="en-US" sz="1300" dirty="0"/>
          </a:p>
        </p:txBody>
      </p:sp>
      <p:sp>
        <p:nvSpPr>
          <p:cNvPr id="12" name="Text 9"/>
          <p:cNvSpPr/>
          <p:nvPr/>
        </p:nvSpPr>
        <p:spPr>
          <a:xfrm>
            <a:off x="3246120" y="1170432"/>
            <a:ext cx="7086600" cy="256032"/>
          </a:xfrm>
          <a:prstGeom prst="rect">
            <a:avLst/>
          </a:prstGeom>
          <a:noFill/>
          <a:ln/>
        </p:spPr>
        <p:txBody>
          <a:bodyPr wrap="square" lIns="0" tIns="0" rIns="0" bIns="0" rtlCol="0" anchor="ctr"/>
          <a:lstStyle/>
          <a:p>
            <a:pPr indent="0" marL="0">
              <a:buNone/>
            </a:pPr>
            <a:r>
              <a:rPr lang="en-US" sz="1200" dirty="0">
                <a:solidFill>
                  <a:srgbClr val="334E62"/>
                </a:solidFill>
                <a:latin typeface="Arial" pitchFamily="34" charset="0"/>
                <a:ea typeface="Arial" pitchFamily="34" charset="-122"/>
                <a:cs typeface="Arial" pitchFamily="34" charset="-120"/>
              </a:rPr>
              <a:t>Overview → My Work → Review Queue</a:t>
            </a:r>
            <a:endParaRPr lang="en-US" sz="1200" dirty="0"/>
          </a:p>
        </p:txBody>
      </p:sp>
      <p:sp>
        <p:nvSpPr>
          <p:cNvPr id="13" name="Shape 10"/>
          <p:cNvSpPr/>
          <p:nvPr/>
        </p:nvSpPr>
        <p:spPr>
          <a:xfrm>
            <a:off x="969264" y="1673352"/>
            <a:ext cx="0" cy="256032"/>
          </a:xfrm>
          <a:prstGeom prst="line">
            <a:avLst/>
          </a:prstGeom>
          <a:noFill/>
          <a:ln w="25400">
            <a:solidFill>
              <a:srgbClr val="D4DEE6"/>
            </a:solidFill>
            <a:prstDash val="solid"/>
          </a:ln>
        </p:spPr>
      </p:sp>
      <p:sp>
        <p:nvSpPr>
          <p:cNvPr id="14" name="Shape 11"/>
          <p:cNvSpPr/>
          <p:nvPr/>
        </p:nvSpPr>
        <p:spPr>
          <a:xfrm>
            <a:off x="731520" y="1947672"/>
            <a:ext cx="475488" cy="475488"/>
          </a:xfrm>
          <a:prstGeom prst="ellipse">
            <a:avLst/>
          </a:prstGeom>
          <a:solidFill>
            <a:srgbClr val="2B8F7D"/>
          </a:solidFill>
          <a:ln w="12700">
            <a:solidFill>
              <a:srgbClr val="2B8F7D"/>
            </a:solidFill>
            <a:prstDash val="solid"/>
          </a:ln>
        </p:spPr>
      </p:sp>
      <p:sp>
        <p:nvSpPr>
          <p:cNvPr id="15" name="Text 12"/>
          <p:cNvSpPr/>
          <p:nvPr/>
        </p:nvSpPr>
        <p:spPr>
          <a:xfrm>
            <a:off x="731520" y="2057400"/>
            <a:ext cx="475488" cy="1463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417320" y="1920240"/>
            <a:ext cx="1828800" cy="219456"/>
          </a:xfrm>
          <a:prstGeom prst="rect">
            <a:avLst/>
          </a:prstGeom>
          <a:noFill/>
          <a:ln/>
        </p:spPr>
        <p:txBody>
          <a:bodyPr wrap="square" lIns="0" tIns="0" rIns="0" bIns="0" rtlCol="0" anchor="ctr"/>
          <a:lstStyle/>
          <a:p>
            <a:pPr indent="0" marL="0">
              <a:buNone/>
            </a:pPr>
            <a:r>
              <a:rPr lang="en-US" sz="1300" b="1" dirty="0">
                <a:solidFill>
                  <a:srgbClr val="17354A"/>
                </a:solidFill>
                <a:latin typeface="Arial" pitchFamily="34" charset="0"/>
                <a:ea typeface="Arial" pitchFamily="34" charset="-122"/>
                <a:cs typeface="Arial" pitchFamily="34" charset="-120"/>
              </a:rPr>
              <a:t>INVESTIGATE</a:t>
            </a:r>
            <a:endParaRPr lang="en-US" sz="1300" dirty="0"/>
          </a:p>
        </p:txBody>
      </p:sp>
      <p:sp>
        <p:nvSpPr>
          <p:cNvPr id="17" name="Text 14"/>
          <p:cNvSpPr/>
          <p:nvPr/>
        </p:nvSpPr>
        <p:spPr>
          <a:xfrm>
            <a:off x="3246120" y="1920240"/>
            <a:ext cx="7086600" cy="256032"/>
          </a:xfrm>
          <a:prstGeom prst="rect">
            <a:avLst/>
          </a:prstGeom>
          <a:noFill/>
          <a:ln/>
        </p:spPr>
        <p:txBody>
          <a:bodyPr wrap="square" lIns="0" tIns="0" rIns="0" bIns="0" rtlCol="0" anchor="ctr"/>
          <a:lstStyle/>
          <a:p>
            <a:pPr indent="0" marL="0">
              <a:buNone/>
            </a:pPr>
            <a:r>
              <a:rPr lang="en-US" sz="1200" dirty="0">
                <a:solidFill>
                  <a:srgbClr val="334E62"/>
                </a:solidFill>
                <a:latin typeface="Arial" pitchFamily="34" charset="0"/>
                <a:ea typeface="Arial" pitchFamily="34" charset="-122"/>
                <a:cs typeface="Arial" pitchFamily="34" charset="-120"/>
              </a:rPr>
              <a:t>Transaction → Evidence → Timeline → Provenance</a:t>
            </a:r>
            <a:endParaRPr lang="en-US" sz="1200" dirty="0"/>
          </a:p>
        </p:txBody>
      </p:sp>
      <p:sp>
        <p:nvSpPr>
          <p:cNvPr id="18" name="Shape 15"/>
          <p:cNvSpPr/>
          <p:nvPr/>
        </p:nvSpPr>
        <p:spPr>
          <a:xfrm>
            <a:off x="969264" y="2423160"/>
            <a:ext cx="0" cy="256032"/>
          </a:xfrm>
          <a:prstGeom prst="line">
            <a:avLst/>
          </a:prstGeom>
          <a:noFill/>
          <a:ln w="25400">
            <a:solidFill>
              <a:srgbClr val="D4DEE6"/>
            </a:solidFill>
            <a:prstDash val="solid"/>
          </a:ln>
        </p:spPr>
      </p:sp>
      <p:sp>
        <p:nvSpPr>
          <p:cNvPr id="19" name="Shape 16"/>
          <p:cNvSpPr/>
          <p:nvPr/>
        </p:nvSpPr>
        <p:spPr>
          <a:xfrm>
            <a:off x="731520" y="2697480"/>
            <a:ext cx="475488" cy="475488"/>
          </a:xfrm>
          <a:prstGeom prst="ellipse">
            <a:avLst/>
          </a:prstGeom>
          <a:solidFill>
            <a:srgbClr val="2B8F7D"/>
          </a:solidFill>
          <a:ln w="12700">
            <a:solidFill>
              <a:srgbClr val="2B8F7D"/>
            </a:solidFill>
            <a:prstDash val="solid"/>
          </a:ln>
        </p:spPr>
      </p:sp>
      <p:sp>
        <p:nvSpPr>
          <p:cNvPr id="20" name="Text 17"/>
          <p:cNvSpPr/>
          <p:nvPr/>
        </p:nvSpPr>
        <p:spPr>
          <a:xfrm>
            <a:off x="731520" y="2807208"/>
            <a:ext cx="475488" cy="1463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1" name="Text 18"/>
          <p:cNvSpPr/>
          <p:nvPr/>
        </p:nvSpPr>
        <p:spPr>
          <a:xfrm>
            <a:off x="1417320" y="2670048"/>
            <a:ext cx="1828800" cy="219456"/>
          </a:xfrm>
          <a:prstGeom prst="rect">
            <a:avLst/>
          </a:prstGeom>
          <a:noFill/>
          <a:ln/>
        </p:spPr>
        <p:txBody>
          <a:bodyPr wrap="square" lIns="0" tIns="0" rIns="0" bIns="0" rtlCol="0" anchor="ctr"/>
          <a:lstStyle/>
          <a:p>
            <a:pPr indent="0" marL="0">
              <a:buNone/>
            </a:pPr>
            <a:r>
              <a:rPr lang="en-US" sz="1300" b="1" dirty="0">
                <a:solidFill>
                  <a:srgbClr val="17354A"/>
                </a:solidFill>
                <a:latin typeface="Arial" pitchFamily="34" charset="0"/>
                <a:ea typeface="Arial" pitchFamily="34" charset="-122"/>
                <a:cs typeface="Arial" pitchFamily="34" charset="-120"/>
              </a:rPr>
              <a:t>DECIDE</a:t>
            </a:r>
            <a:endParaRPr lang="en-US" sz="1300" dirty="0"/>
          </a:p>
        </p:txBody>
      </p:sp>
      <p:sp>
        <p:nvSpPr>
          <p:cNvPr id="22" name="Text 19"/>
          <p:cNvSpPr/>
          <p:nvPr/>
        </p:nvSpPr>
        <p:spPr>
          <a:xfrm>
            <a:off x="3246120" y="2670048"/>
            <a:ext cx="7086600" cy="256032"/>
          </a:xfrm>
          <a:prstGeom prst="rect">
            <a:avLst/>
          </a:prstGeom>
          <a:noFill/>
          <a:ln/>
        </p:spPr>
        <p:txBody>
          <a:bodyPr wrap="square" lIns="0" tIns="0" rIns="0" bIns="0" rtlCol="0" anchor="ctr"/>
          <a:lstStyle/>
          <a:p>
            <a:pPr indent="0" marL="0">
              <a:buNone/>
            </a:pPr>
            <a:r>
              <a:rPr lang="en-US" sz="1200" dirty="0">
                <a:solidFill>
                  <a:srgbClr val="334E62"/>
                </a:solidFill>
                <a:latin typeface="Arial" pitchFamily="34" charset="0"/>
                <a:ea typeface="Arial" pitchFamily="34" charset="-122"/>
                <a:cs typeface="Arial" pitchFamily="34" charset="-120"/>
              </a:rPr>
              <a:t>Add note → Clear / Confirm Risk / Refer for Specialist Review</a:t>
            </a:r>
            <a:endParaRPr lang="en-US" sz="1200" dirty="0"/>
          </a:p>
        </p:txBody>
      </p:sp>
      <p:sp>
        <p:nvSpPr>
          <p:cNvPr id="23" name="Shape 20"/>
          <p:cNvSpPr/>
          <p:nvPr/>
        </p:nvSpPr>
        <p:spPr>
          <a:xfrm>
            <a:off x="969264" y="3172968"/>
            <a:ext cx="0" cy="256032"/>
          </a:xfrm>
          <a:prstGeom prst="line">
            <a:avLst/>
          </a:prstGeom>
          <a:noFill/>
          <a:ln w="25400">
            <a:solidFill>
              <a:srgbClr val="D4DEE6"/>
            </a:solidFill>
            <a:prstDash val="solid"/>
          </a:ln>
        </p:spPr>
      </p:sp>
      <p:sp>
        <p:nvSpPr>
          <p:cNvPr id="24" name="Shape 21"/>
          <p:cNvSpPr/>
          <p:nvPr/>
        </p:nvSpPr>
        <p:spPr>
          <a:xfrm>
            <a:off x="731520" y="3447288"/>
            <a:ext cx="475488" cy="475488"/>
          </a:xfrm>
          <a:prstGeom prst="ellipse">
            <a:avLst/>
          </a:prstGeom>
          <a:solidFill>
            <a:srgbClr val="214A5E"/>
          </a:solidFill>
          <a:ln w="12700">
            <a:solidFill>
              <a:srgbClr val="214A5E"/>
            </a:solidFill>
            <a:prstDash val="solid"/>
          </a:ln>
        </p:spPr>
      </p:sp>
      <p:sp>
        <p:nvSpPr>
          <p:cNvPr id="25" name="Text 22"/>
          <p:cNvSpPr/>
          <p:nvPr/>
        </p:nvSpPr>
        <p:spPr>
          <a:xfrm>
            <a:off x="731520" y="3557016"/>
            <a:ext cx="475488" cy="1463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6" name="Text 23"/>
          <p:cNvSpPr/>
          <p:nvPr/>
        </p:nvSpPr>
        <p:spPr>
          <a:xfrm>
            <a:off x="1417320" y="3419856"/>
            <a:ext cx="1828800" cy="219456"/>
          </a:xfrm>
          <a:prstGeom prst="rect">
            <a:avLst/>
          </a:prstGeom>
          <a:noFill/>
          <a:ln/>
        </p:spPr>
        <p:txBody>
          <a:bodyPr wrap="square" lIns="0" tIns="0" rIns="0" bIns="0" rtlCol="0" anchor="ctr"/>
          <a:lstStyle/>
          <a:p>
            <a:pPr indent="0" marL="0">
              <a:buNone/>
            </a:pPr>
            <a:r>
              <a:rPr lang="en-US" sz="1300" b="1" dirty="0">
                <a:solidFill>
                  <a:srgbClr val="17354A"/>
                </a:solidFill>
                <a:latin typeface="Arial" pitchFamily="34" charset="0"/>
                <a:ea typeface="Arial" pitchFamily="34" charset="-122"/>
                <a:cs typeface="Arial" pitchFamily="34" charset="-120"/>
              </a:rPr>
              <a:t>RECOVER DATA</a:t>
            </a:r>
            <a:endParaRPr lang="en-US" sz="1300" dirty="0"/>
          </a:p>
        </p:txBody>
      </p:sp>
      <p:sp>
        <p:nvSpPr>
          <p:cNvPr id="27" name="Text 24"/>
          <p:cNvSpPr/>
          <p:nvPr/>
        </p:nvSpPr>
        <p:spPr>
          <a:xfrm>
            <a:off x="3246120" y="3419856"/>
            <a:ext cx="7086600" cy="256032"/>
          </a:xfrm>
          <a:prstGeom prst="rect">
            <a:avLst/>
          </a:prstGeom>
          <a:noFill/>
          <a:ln/>
        </p:spPr>
        <p:txBody>
          <a:bodyPr wrap="square" lIns="0" tIns="0" rIns="0" bIns="0" rtlCol="0" anchor="ctr"/>
          <a:lstStyle/>
          <a:p>
            <a:pPr indent="0" marL="0">
              <a:buNone/>
            </a:pPr>
            <a:r>
              <a:rPr lang="en-US" sz="1200" dirty="0">
                <a:solidFill>
                  <a:srgbClr val="334E62"/>
                </a:solidFill>
                <a:latin typeface="Arial" pitchFamily="34" charset="0"/>
                <a:ea typeface="Arial" pitchFamily="34" charset="-122"/>
                <a:cs typeface="Arial" pitchFamily="34" charset="-120"/>
              </a:rPr>
              <a:t>Upload → Quarantine → Correct / Reject → Reconcile</a:t>
            </a:r>
            <a:endParaRPr lang="en-US" sz="1200" dirty="0"/>
          </a:p>
        </p:txBody>
      </p:sp>
      <p:sp>
        <p:nvSpPr>
          <p:cNvPr id="28" name="Shape 25"/>
          <p:cNvSpPr/>
          <p:nvPr/>
        </p:nvSpPr>
        <p:spPr>
          <a:xfrm>
            <a:off x="969264" y="3922776"/>
            <a:ext cx="0" cy="256032"/>
          </a:xfrm>
          <a:prstGeom prst="line">
            <a:avLst/>
          </a:prstGeom>
          <a:noFill/>
          <a:ln w="25400">
            <a:solidFill>
              <a:srgbClr val="D4DEE6"/>
            </a:solidFill>
            <a:prstDash val="solid"/>
          </a:ln>
        </p:spPr>
      </p:sp>
      <p:sp>
        <p:nvSpPr>
          <p:cNvPr id="29" name="Shape 26"/>
          <p:cNvSpPr/>
          <p:nvPr/>
        </p:nvSpPr>
        <p:spPr>
          <a:xfrm>
            <a:off x="731520" y="4197096"/>
            <a:ext cx="475488" cy="475488"/>
          </a:xfrm>
          <a:prstGeom prst="ellipse">
            <a:avLst/>
          </a:prstGeom>
          <a:solidFill>
            <a:srgbClr val="214A5E"/>
          </a:solidFill>
          <a:ln w="12700">
            <a:solidFill>
              <a:srgbClr val="214A5E"/>
            </a:solidFill>
            <a:prstDash val="solid"/>
          </a:ln>
        </p:spPr>
      </p:sp>
      <p:sp>
        <p:nvSpPr>
          <p:cNvPr id="30" name="Text 27"/>
          <p:cNvSpPr/>
          <p:nvPr/>
        </p:nvSpPr>
        <p:spPr>
          <a:xfrm>
            <a:off x="731520" y="4306824"/>
            <a:ext cx="475488" cy="1463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1" name="Text 28"/>
          <p:cNvSpPr/>
          <p:nvPr/>
        </p:nvSpPr>
        <p:spPr>
          <a:xfrm>
            <a:off x="1417320" y="4169664"/>
            <a:ext cx="1828800" cy="219456"/>
          </a:xfrm>
          <a:prstGeom prst="rect">
            <a:avLst/>
          </a:prstGeom>
          <a:noFill/>
          <a:ln/>
        </p:spPr>
        <p:txBody>
          <a:bodyPr wrap="square" lIns="0" tIns="0" rIns="0" bIns="0" rtlCol="0" anchor="ctr"/>
          <a:lstStyle/>
          <a:p>
            <a:pPr indent="0" marL="0">
              <a:buNone/>
            </a:pPr>
            <a:r>
              <a:rPr lang="en-US" sz="1300" b="1" dirty="0">
                <a:solidFill>
                  <a:srgbClr val="17354A"/>
                </a:solidFill>
                <a:latin typeface="Arial" pitchFamily="34" charset="0"/>
                <a:ea typeface="Arial" pitchFamily="34" charset="-122"/>
                <a:cs typeface="Arial" pitchFamily="34" charset="-120"/>
              </a:rPr>
              <a:t>ANALYSE</a:t>
            </a:r>
            <a:endParaRPr lang="en-US" sz="1300" dirty="0"/>
          </a:p>
        </p:txBody>
      </p:sp>
      <p:sp>
        <p:nvSpPr>
          <p:cNvPr id="32" name="Text 29"/>
          <p:cNvSpPr/>
          <p:nvPr/>
        </p:nvSpPr>
        <p:spPr>
          <a:xfrm>
            <a:off x="3246120" y="4169664"/>
            <a:ext cx="7086600" cy="256032"/>
          </a:xfrm>
          <a:prstGeom prst="rect">
            <a:avLst/>
          </a:prstGeom>
          <a:noFill/>
          <a:ln/>
        </p:spPr>
        <p:txBody>
          <a:bodyPr wrap="square" lIns="0" tIns="0" rIns="0" bIns="0" rtlCol="0" anchor="ctr"/>
          <a:lstStyle/>
          <a:p>
            <a:pPr indent="0" marL="0">
              <a:buNone/>
            </a:pPr>
            <a:r>
              <a:rPr lang="en-US" sz="1200" dirty="0">
                <a:solidFill>
                  <a:srgbClr val="334E62"/>
                </a:solidFill>
                <a:latin typeface="Arial" pitchFamily="34" charset="0"/>
                <a:ea typeface="Arial" pitchFamily="34" charset="-122"/>
                <a:cs typeface="Arial" pitchFamily="34" charset="-120"/>
              </a:rPr>
              <a:t>Accounts → Insights → Matching transactions</a:t>
            </a:r>
            <a:endParaRPr lang="en-US" sz="1200" dirty="0"/>
          </a:p>
        </p:txBody>
      </p:sp>
      <p:sp>
        <p:nvSpPr>
          <p:cNvPr id="33" name="Shape 30"/>
          <p:cNvSpPr/>
          <p:nvPr/>
        </p:nvSpPr>
        <p:spPr>
          <a:xfrm>
            <a:off x="969264" y="4672584"/>
            <a:ext cx="0" cy="256032"/>
          </a:xfrm>
          <a:prstGeom prst="line">
            <a:avLst/>
          </a:prstGeom>
          <a:noFill/>
          <a:ln w="25400">
            <a:solidFill>
              <a:srgbClr val="D4DEE6"/>
            </a:solidFill>
            <a:prstDash val="solid"/>
          </a:ln>
        </p:spPr>
      </p:sp>
      <p:sp>
        <p:nvSpPr>
          <p:cNvPr id="34" name="Shape 31"/>
          <p:cNvSpPr/>
          <p:nvPr/>
        </p:nvSpPr>
        <p:spPr>
          <a:xfrm>
            <a:off x="731520" y="4946904"/>
            <a:ext cx="475488" cy="475488"/>
          </a:xfrm>
          <a:prstGeom prst="ellipse">
            <a:avLst/>
          </a:prstGeom>
          <a:solidFill>
            <a:srgbClr val="214A5E"/>
          </a:solidFill>
          <a:ln w="12700">
            <a:solidFill>
              <a:srgbClr val="214A5E"/>
            </a:solidFill>
            <a:prstDash val="solid"/>
          </a:ln>
        </p:spPr>
      </p:sp>
      <p:sp>
        <p:nvSpPr>
          <p:cNvPr id="35" name="Text 32"/>
          <p:cNvSpPr/>
          <p:nvPr/>
        </p:nvSpPr>
        <p:spPr>
          <a:xfrm>
            <a:off x="731520" y="5056632"/>
            <a:ext cx="475488" cy="1463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6" name="Text 33"/>
          <p:cNvSpPr/>
          <p:nvPr/>
        </p:nvSpPr>
        <p:spPr>
          <a:xfrm>
            <a:off x="1417320" y="4919472"/>
            <a:ext cx="1828800" cy="219456"/>
          </a:xfrm>
          <a:prstGeom prst="rect">
            <a:avLst/>
          </a:prstGeom>
          <a:noFill/>
          <a:ln/>
        </p:spPr>
        <p:txBody>
          <a:bodyPr wrap="square" lIns="0" tIns="0" rIns="0" bIns="0" rtlCol="0" anchor="ctr"/>
          <a:lstStyle/>
          <a:p>
            <a:pPr indent="0" marL="0">
              <a:buNone/>
            </a:pPr>
            <a:r>
              <a:rPr lang="en-US" sz="1300" b="1" dirty="0">
                <a:solidFill>
                  <a:srgbClr val="17354A"/>
                </a:solidFill>
                <a:latin typeface="Arial" pitchFamily="34" charset="0"/>
                <a:ea typeface="Arial" pitchFamily="34" charset="-122"/>
                <a:cs typeface="Arial" pitchFamily="34" charset="-120"/>
              </a:rPr>
              <a:t>REPORT</a:t>
            </a:r>
            <a:endParaRPr lang="en-US" sz="1300" dirty="0"/>
          </a:p>
        </p:txBody>
      </p:sp>
      <p:sp>
        <p:nvSpPr>
          <p:cNvPr id="37" name="Text 34"/>
          <p:cNvSpPr/>
          <p:nvPr/>
        </p:nvSpPr>
        <p:spPr>
          <a:xfrm>
            <a:off x="3246120" y="4919472"/>
            <a:ext cx="7086600" cy="256032"/>
          </a:xfrm>
          <a:prstGeom prst="rect">
            <a:avLst/>
          </a:prstGeom>
          <a:noFill/>
          <a:ln/>
        </p:spPr>
        <p:txBody>
          <a:bodyPr wrap="square" lIns="0" tIns="0" rIns="0" bIns="0" rtlCol="0" anchor="ctr"/>
          <a:lstStyle/>
          <a:p>
            <a:pPr indent="0" marL="0">
              <a:buNone/>
            </a:pPr>
            <a:r>
              <a:rPr lang="en-US" sz="1200" dirty="0">
                <a:solidFill>
                  <a:srgbClr val="334E62"/>
                </a:solidFill>
                <a:latin typeface="Arial" pitchFamily="34" charset="0"/>
                <a:ea typeface="Arial" pitchFamily="34" charset="-122"/>
                <a:cs typeface="Arial" pitchFamily="34" charset="-120"/>
              </a:rPr>
              <a:t>Reports → Export → Notifications / Processing History</a:t>
            </a:r>
            <a:endParaRPr lang="en-US" sz="1200" dirty="0"/>
          </a:p>
        </p:txBody>
      </p:sp>
      <p:sp>
        <p:nvSpPr>
          <p:cNvPr id="38" name="Shape 35"/>
          <p:cNvSpPr/>
          <p:nvPr/>
        </p:nvSpPr>
        <p:spPr>
          <a:xfrm>
            <a:off x="7909560" y="5440680"/>
            <a:ext cx="3429000" cy="658368"/>
          </a:xfrm>
          <a:prstGeom prst="roundRect">
            <a:avLst>
              <a:gd name="adj" fmla="val 8333"/>
            </a:avLst>
          </a:prstGeom>
          <a:solidFill>
            <a:srgbClr val="153447"/>
          </a:solidFill>
          <a:ln w="12700">
            <a:solidFill>
              <a:srgbClr val="153447"/>
            </a:solidFill>
            <a:prstDash val="solid"/>
          </a:ln>
        </p:spPr>
      </p:sp>
      <p:sp>
        <p:nvSpPr>
          <p:cNvPr id="39" name="Text 36"/>
          <p:cNvSpPr/>
          <p:nvPr/>
        </p:nvSpPr>
        <p:spPr>
          <a:xfrm>
            <a:off x="8074152" y="5577840"/>
            <a:ext cx="30632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Trust the data. Understand the risk.</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Prove the decision.</a:t>
            </a:r>
            <a:endParaRPr lang="en-US" sz="1400" dirty="0"/>
          </a:p>
        </p:txBody>
      </p:sp>
      <p:sp>
        <p:nvSpPr>
          <p:cNvPr id="40" name="Shape 37"/>
          <p:cNvSpPr/>
          <p:nvPr/>
        </p:nvSpPr>
        <p:spPr>
          <a:xfrm>
            <a:off x="384048" y="6419088"/>
            <a:ext cx="11338560" cy="0"/>
          </a:xfrm>
          <a:prstGeom prst="line">
            <a:avLst/>
          </a:prstGeom>
          <a:noFill/>
          <a:ln w="10160">
            <a:solidFill>
              <a:srgbClr val="D4DEE6"/>
            </a:solidFill>
            <a:prstDash val="solid"/>
          </a:ln>
        </p:spPr>
      </p:sp>
      <p:sp>
        <p:nvSpPr>
          <p:cNvPr id="41" name="Text 38"/>
          <p:cNvSpPr/>
          <p:nvPr/>
        </p:nvSpPr>
        <p:spPr>
          <a:xfrm>
            <a:off x="420624" y="6464808"/>
            <a:ext cx="5303520" cy="164592"/>
          </a:xfrm>
          <a:prstGeom prst="rect">
            <a:avLst/>
          </a:prstGeom>
          <a:noFill/>
          <a:ln/>
        </p:spPr>
        <p:txBody>
          <a:bodyPr wrap="square" lIns="0" tIns="0" rIns="0" bIns="0" rtlCol="0" anchor="ctr"/>
          <a:lstStyle/>
          <a:p>
            <a:pPr indent="0" marL="0">
              <a:buNone/>
            </a:pPr>
            <a:r>
              <a:rPr lang="en-US" sz="850" dirty="0">
                <a:solidFill>
                  <a:srgbClr val="6F8293"/>
                </a:solidFill>
                <a:latin typeface="Arial" pitchFamily="34" charset="0"/>
                <a:ea typeface="Arial" pitchFamily="34" charset="-122"/>
                <a:cs typeface="Arial" pitchFamily="34" charset="-120"/>
              </a:rPr>
              <a:t>Internal project demonstration · Analyst role only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Imbokodo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Imbokodo Bank Risk &amp; Compliance Workbench - Analyst SOP</dc:title>
  <dc:subject>Risk &amp; Compliance Workbench - Analyst SOP</dc:subject>
  <dc:creator>Imbokodo Bank</dc:creator>
  <cp:lastModifiedBy>Imbokodo Bank</cp:lastModifiedBy>
  <cp:revision>1</cp:revision>
  <dcterms:created xsi:type="dcterms:W3CDTF">2026-10-14T11:27:50Z</dcterms:created>
  <dcterms:modified xsi:type="dcterms:W3CDTF">2026-10-14T11:27:50Z</dcterms:modified>
</cp:coreProperties>
</file>